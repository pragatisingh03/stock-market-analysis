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320" r:id="rId5"/>
    <p:sldId id="321" r:id="rId6"/>
    <p:sldId id="322" r:id="rId7"/>
    <p:sldId id="300" r:id="rId8"/>
    <p:sldId id="308" r:id="rId9"/>
    <p:sldId id="309" r:id="rId10"/>
    <p:sldId id="310" r:id="rId11"/>
    <p:sldId id="311" r:id="rId12"/>
    <p:sldId id="323" r:id="rId13"/>
    <p:sldId id="312" r:id="rId14"/>
    <p:sldId id="313" r:id="rId15"/>
    <p:sldId id="314" r:id="rId16"/>
    <p:sldId id="324" r:id="rId17"/>
    <p:sldId id="316" r:id="rId18"/>
    <p:sldId id="318" r:id="rId19"/>
    <p:sldId id="31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72"/>
  </p:normalViewPr>
  <p:slideViewPr>
    <p:cSldViewPr snapToGrid="0">
      <p:cViewPr varScale="1">
        <p:scale>
          <a:sx n="59" d="100"/>
          <a:sy n="59" d="100"/>
        </p:scale>
        <p:origin x="936" y="56"/>
      </p:cViewPr>
      <p:guideLst/>
    </p:cSldViewPr>
  </p:slideViewPr>
  <p:notesTextViewPr>
    <p:cViewPr>
      <p:scale>
        <a:sx n="1" d="1"/>
        <a:sy n="1" d="1"/>
      </p:scale>
      <p:origin x="0" y="0"/>
    </p:cViewPr>
  </p:notesText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C669D0-F8F9-909F-F36A-221EAC7424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361AC27-49A0-3B4C-5F49-D6641499EF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B2F45D-55D9-47BA-9640-E7EB1024F606}" type="datetimeFigureOut">
              <a:rPr lang="en-US" smtClean="0"/>
              <a:t>10/24/2024</a:t>
            </a:fld>
            <a:endParaRPr lang="en-US" dirty="0"/>
          </a:p>
        </p:txBody>
      </p:sp>
      <p:sp>
        <p:nvSpPr>
          <p:cNvPr id="4" name="Footer Placeholder 3">
            <a:extLst>
              <a:ext uri="{FF2B5EF4-FFF2-40B4-BE49-F238E27FC236}">
                <a16:creationId xmlns:a16="http://schemas.microsoft.com/office/drawing/2014/main" id="{A77AD1BD-C6AD-D1DF-596E-659165024C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1BA659A-33FC-973A-2DD5-89A959CA8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A2DCA-E9F6-4345-9316-BF42F09A2C30}" type="slidenum">
              <a:rPr lang="en-US" smtClean="0"/>
              <a:t>‹#›</a:t>
            </a:fld>
            <a:endParaRPr lang="en-US" dirty="0"/>
          </a:p>
        </p:txBody>
      </p:sp>
    </p:spTree>
    <p:extLst>
      <p:ext uri="{BB962C8B-B14F-4D97-AF65-F5344CB8AC3E}">
        <p14:creationId xmlns:p14="http://schemas.microsoft.com/office/powerpoint/2010/main" val="3545669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9C6F8-5F98-E04A-B725-72D1A5FE8444}" type="datetimeFigureOut">
              <a:rPr lang="en-US" smtClean="0"/>
              <a:t>10/24/2024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A9608-B288-5444-9C81-49B56A597B1B}" type="slidenum">
              <a:rPr lang="en-US" smtClean="0"/>
              <a:t>‹#›</a:t>
            </a:fld>
            <a:endParaRPr lang="en-US" dirty="0"/>
          </a:p>
        </p:txBody>
      </p:sp>
    </p:spTree>
    <p:extLst>
      <p:ext uri="{BB962C8B-B14F-4D97-AF65-F5344CB8AC3E}">
        <p14:creationId xmlns:p14="http://schemas.microsoft.com/office/powerpoint/2010/main" val="266177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2161BAA5-48F7-7727-F9D9-CE83907FFBA7}"/>
              </a:ext>
              <a:ext uri="{C183D7F6-B498-43B3-948B-1728B52AA6E4}">
                <adec:decorative xmlns:adec="http://schemas.microsoft.com/office/drawing/2017/decorative" val="1"/>
              </a:ext>
            </a:extLst>
          </p:cNvPr>
          <p:cNvSpPr/>
          <p:nvPr userDrawn="1"/>
        </p:nvSpPr>
        <p:spPr>
          <a:xfrm>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1064ED4F-0011-0734-A8CE-F357C9B3CB59}"/>
              </a:ext>
              <a:ext uri="{C183D7F6-B498-43B3-948B-1728B52AA6E4}">
                <adec:decorative xmlns:adec="http://schemas.microsoft.com/office/drawing/2017/decorative" val="1"/>
              </a:ext>
            </a:extLst>
          </p:cNvPr>
          <p:cNvSpPr/>
          <p:nvPr userDrawn="1"/>
        </p:nvSpPr>
        <p:spPr>
          <a:xfrm>
            <a:off x="9823776" y="0"/>
            <a:ext cx="16715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AC40BC2-4799-E79D-1CFD-4A82C90A1DA8}"/>
              </a:ext>
              <a:ext uri="{C183D7F6-B498-43B3-948B-1728B52AA6E4}">
                <adec:decorative xmlns:adec="http://schemas.microsoft.com/office/drawing/2017/decorative" val="1"/>
              </a:ext>
            </a:extLst>
          </p:cNvPr>
          <p:cNvSpPr/>
          <p:nvPr userDrawn="1"/>
        </p:nvSpPr>
        <p:spPr>
          <a:xfrm>
            <a:off x="1119693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D7662E9-6C4B-1DCF-4FA0-9D0E52069DAB}"/>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5232" y="463974"/>
            <a:ext cx="4217424" cy="3709195"/>
          </a:xfrm>
        </p:spPr>
        <p:txBody>
          <a:bodyPr anchor="b">
            <a:normAutofit/>
          </a:bodyPr>
          <a:lstStyle>
            <a:lvl1pPr algn="l">
              <a:defRPr sz="4800" b="1" spc="-150" baseline="0"/>
            </a:lvl1pPr>
          </a:lstStyle>
          <a:p>
            <a:r>
              <a:rPr lang="en-US" dirty="0"/>
              <a:t>Click to add title</a:t>
            </a:r>
          </a:p>
        </p:txBody>
      </p:sp>
      <p:sp>
        <p:nvSpPr>
          <p:cNvPr id="11" name="Picture Placeholder 10">
            <a:extLst>
              <a:ext uri="{FF2B5EF4-FFF2-40B4-BE49-F238E27FC236}">
                <a16:creationId xmlns:a16="http://schemas.microsoft.com/office/drawing/2014/main" id="{7E2C7390-A781-021E-CEDA-D9040304381E}"/>
              </a:ext>
            </a:extLst>
          </p:cNvPr>
          <p:cNvSpPr>
            <a:spLocks noGrp="1"/>
          </p:cNvSpPr>
          <p:nvPr>
            <p:ph type="pic" sz="quarter" idx="10" hasCustomPrompt="1"/>
          </p:nvPr>
        </p:nvSpPr>
        <p:spPr>
          <a:xfrm>
            <a:off x="920158" y="1741488"/>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F31C49C2-4E92-6564-1A68-190EFACC56DC}"/>
              </a:ext>
              <a:ext uri="{C183D7F6-B498-43B3-948B-1728B52AA6E4}">
                <adec:decorative xmlns:adec="http://schemas.microsoft.com/office/drawing/2017/decorative" val="1"/>
              </a:ext>
            </a:extLst>
          </p:cNvPr>
          <p:cNvSpPr/>
          <p:nvPr userDrawn="1"/>
        </p:nvSpPr>
        <p:spPr>
          <a:xfrm flipH="1">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5003C2B3-3873-7FFA-2567-57F2F6ABBFCB}"/>
              </a:ext>
              <a:ext uri="{C183D7F6-B498-43B3-948B-1728B52AA6E4}">
                <adec:decorative xmlns:adec="http://schemas.microsoft.com/office/drawing/2017/decorative" val="1"/>
              </a:ext>
            </a:extLst>
          </p:cNvPr>
          <p:cNvSpPr/>
          <p:nvPr userDrawn="1"/>
        </p:nvSpPr>
        <p:spPr>
          <a:xfrm>
            <a:off x="763334"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3619A50-ADC7-AA30-E96F-D0853D0DD7C6}"/>
              </a:ext>
              <a:ext uri="{C183D7F6-B498-43B3-948B-1728B52AA6E4}">
                <adec:decorative xmlns:adec="http://schemas.microsoft.com/office/drawing/2017/decorative" val="1"/>
              </a:ext>
            </a:extLst>
          </p:cNvPr>
          <p:cNvSpPr/>
          <p:nvPr userDrawn="1"/>
        </p:nvSpPr>
        <p:spPr>
          <a:xfrm>
            <a:off x="126501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6447AC2-F09C-2AC2-0522-F871987D66DB}"/>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467140" y="576470"/>
            <a:ext cx="4831209" cy="2266121"/>
          </a:xfrm>
        </p:spPr>
        <p:txBody>
          <a:bodyPr anchor="ctr">
            <a:normAutofit/>
          </a:bodyPr>
          <a:lstStyle>
            <a:lvl1pPr algn="r">
              <a:defRPr sz="4400" b="0" spc="0" baseline="0"/>
            </a:lvl1pPr>
          </a:lstStyle>
          <a:p>
            <a:endParaRPr lang="en-US" dirty="0"/>
          </a:p>
        </p:txBody>
      </p:sp>
      <p:sp>
        <p:nvSpPr>
          <p:cNvPr id="17" name="Content Placeholder 16">
            <a:extLst>
              <a:ext uri="{FF2B5EF4-FFF2-40B4-BE49-F238E27FC236}">
                <a16:creationId xmlns:a16="http://schemas.microsoft.com/office/drawing/2014/main" id="{7C3A4AA6-1D0C-DE79-F399-33299CB812C6}"/>
              </a:ext>
            </a:extLst>
          </p:cNvPr>
          <p:cNvSpPr>
            <a:spLocks noGrp="1"/>
          </p:cNvSpPr>
          <p:nvPr>
            <p:ph sz="quarter" idx="11" hasCustomPrompt="1"/>
          </p:nvPr>
        </p:nvSpPr>
        <p:spPr>
          <a:xfrm>
            <a:off x="467139" y="3031435"/>
            <a:ext cx="4831209" cy="3478944"/>
          </a:xfrm>
        </p:spPr>
        <p:txBody>
          <a:bodyPr>
            <a:normAutofit/>
          </a:bodyPr>
          <a:lstStyle>
            <a:lvl1pPr marL="0" indent="0" algn="r">
              <a:lnSpc>
                <a:spcPct val="100000"/>
              </a:lnSpc>
              <a:spcBef>
                <a:spcPts val="1000"/>
              </a:spcBef>
              <a:buNone/>
              <a:defRPr sz="2400"/>
            </a:lvl1pPr>
            <a:lvl2pPr marL="457200" indent="0" algn="r">
              <a:lnSpc>
                <a:spcPct val="100000"/>
              </a:lnSpc>
              <a:spcBef>
                <a:spcPts val="1000"/>
              </a:spcBef>
              <a:buNone/>
              <a:defRPr sz="2000"/>
            </a:lvl2pPr>
            <a:lvl3pPr marL="914400" indent="0" algn="r">
              <a:lnSpc>
                <a:spcPct val="100000"/>
              </a:lnSpc>
              <a:spcBef>
                <a:spcPts val="1000"/>
              </a:spcBef>
              <a:buNone/>
              <a:defRPr sz="1800"/>
            </a:lvl3pPr>
            <a:lvl4pPr marL="1371600" indent="0" algn="r">
              <a:lnSpc>
                <a:spcPct val="100000"/>
              </a:lnSpc>
              <a:spcBef>
                <a:spcPts val="1000"/>
              </a:spcBef>
              <a:buNone/>
              <a:defRPr sz="1600"/>
            </a:lvl4pPr>
            <a:lvl5pPr marL="1828800" indent="0" algn="r">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5890039" y="1751216"/>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11" name="Slide Number Placeholder 10">
            <a:extLst>
              <a:ext uri="{FF2B5EF4-FFF2-40B4-BE49-F238E27FC236}">
                <a16:creationId xmlns:a16="http://schemas.microsoft.com/office/drawing/2014/main" id="{F1E58A54-F746-59CF-007A-329493EC502C}"/>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453075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Right 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6A991E4A-E418-E9C0-B35B-0A81DCE3AB5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1138655 w 12192000"/>
              <a:gd name="connsiteY0" fmla="*/ 1746908 h 6858000"/>
              <a:gd name="connsiteX1" fmla="*/ 913599 w 12192000"/>
              <a:gd name="connsiteY1" fmla="*/ 1971964 h 6858000"/>
              <a:gd name="connsiteX2" fmla="*/ 913599 w 12192000"/>
              <a:gd name="connsiteY2" fmla="*/ 5520711 h 6858000"/>
              <a:gd name="connsiteX3" fmla="*/ 1138655 w 12192000"/>
              <a:gd name="connsiteY3" fmla="*/ 5745767 h 6858000"/>
              <a:gd name="connsiteX4" fmla="*/ 6091846 w 12192000"/>
              <a:gd name="connsiteY4" fmla="*/ 5745767 h 6858000"/>
              <a:gd name="connsiteX5" fmla="*/ 6316902 w 12192000"/>
              <a:gd name="connsiteY5" fmla="*/ 5520711 h 6858000"/>
              <a:gd name="connsiteX6" fmla="*/ 6316902 w 12192000"/>
              <a:gd name="connsiteY6" fmla="*/ 1971964 h 6858000"/>
              <a:gd name="connsiteX7" fmla="*/ 6091846 w 12192000"/>
              <a:gd name="connsiteY7" fmla="*/ 1746908 h 6858000"/>
              <a:gd name="connsiteX8" fmla="*/ 12184610 w 12192000"/>
              <a:gd name="connsiteY8" fmla="*/ 0 h 6858000"/>
              <a:gd name="connsiteX9" fmla="*/ 12192000 w 12192000"/>
              <a:gd name="connsiteY9" fmla="*/ 0 h 6858000"/>
              <a:gd name="connsiteX10" fmla="*/ 12192000 w 12192000"/>
              <a:gd name="connsiteY10" fmla="*/ 6858000 h 6858000"/>
              <a:gd name="connsiteX11" fmla="*/ 12184610 w 12192000"/>
              <a:gd name="connsiteY11" fmla="*/ 6858000 h 6858000"/>
              <a:gd name="connsiteX12" fmla="*/ 0 w 12192000"/>
              <a:gd name="connsiteY12" fmla="*/ 0 h 6858000"/>
              <a:gd name="connsiteX13" fmla="*/ 918140 w 12192000"/>
              <a:gd name="connsiteY13" fmla="*/ 0 h 6858000"/>
              <a:gd name="connsiteX14" fmla="*/ 918140 w 12192000"/>
              <a:gd name="connsiteY14" fmla="*/ 1010539 h 6858000"/>
              <a:gd name="connsiteX15" fmla="*/ 1195741 w 12192000"/>
              <a:gd name="connsiteY15" fmla="*/ 1288140 h 6858000"/>
              <a:gd name="connsiteX16" fmla="*/ 6043842 w 12192000"/>
              <a:gd name="connsiteY16" fmla="*/ 1288140 h 6858000"/>
              <a:gd name="connsiteX17" fmla="*/ 6321443 w 12192000"/>
              <a:gd name="connsiteY17" fmla="*/ 1010539 h 6858000"/>
              <a:gd name="connsiteX18" fmla="*/ 6321443 w 12192000"/>
              <a:gd name="connsiteY18" fmla="*/ 0 h 6858000"/>
              <a:gd name="connsiteX19" fmla="*/ 11019692 w 12192000"/>
              <a:gd name="connsiteY19" fmla="*/ 0 h 6858000"/>
              <a:gd name="connsiteX20" fmla="*/ 11019692 w 12192000"/>
              <a:gd name="connsiteY20" fmla="*/ 6858000 h 6858000"/>
              <a:gd name="connsiteX21" fmla="*/ 6283982 w 12192000"/>
              <a:gd name="connsiteY21" fmla="*/ 6858000 h 6858000"/>
              <a:gd name="connsiteX22" fmla="*/ 6283982 w 12192000"/>
              <a:gd name="connsiteY22" fmla="*/ 6429590 h 6858000"/>
              <a:gd name="connsiteX23" fmla="*/ 6058926 w 12192000"/>
              <a:gd name="connsiteY23" fmla="*/ 6204534 h 6858000"/>
              <a:gd name="connsiteX24" fmla="*/ 1105735 w 12192000"/>
              <a:gd name="connsiteY24" fmla="*/ 6204534 h 6858000"/>
              <a:gd name="connsiteX25" fmla="*/ 880679 w 12192000"/>
              <a:gd name="connsiteY25" fmla="*/ 6429590 h 6858000"/>
              <a:gd name="connsiteX26" fmla="*/ 880679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close/>
                <a:moveTo>
                  <a:pt x="12184610" y="0"/>
                </a:moveTo>
                <a:lnTo>
                  <a:pt x="12192000" y="0"/>
                </a:lnTo>
                <a:lnTo>
                  <a:pt x="12192000" y="6858000"/>
                </a:lnTo>
                <a:lnTo>
                  <a:pt x="12184610" y="6858000"/>
                </a:lnTo>
                <a:close/>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1019692" y="0"/>
                </a:lnTo>
                <a:lnTo>
                  <a:pt x="11019692"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63315A23-2C00-4A7E-B9E9-65CF734EE176}"/>
              </a:ext>
              <a:ext uri="{C183D7F6-B498-43B3-948B-1728B52AA6E4}">
                <adec:decorative xmlns:adec="http://schemas.microsoft.com/office/drawing/2017/decorative" val="1"/>
              </a:ext>
            </a:extLst>
          </p:cNvPr>
          <p:cNvGrpSpPr/>
          <p:nvPr userDrawn="1"/>
        </p:nvGrpSpPr>
        <p:grpSpPr>
          <a:xfrm>
            <a:off x="8068700" y="1116391"/>
            <a:ext cx="4120055" cy="4308449"/>
            <a:chOff x="5656746" y="820557"/>
            <a:chExt cx="4120055" cy="4308449"/>
          </a:xfrm>
        </p:grpSpPr>
        <p:pic>
          <p:nvPicPr>
            <p:cNvPr id="9" name="Graphic 8">
              <a:extLst>
                <a:ext uri="{FF2B5EF4-FFF2-40B4-BE49-F238E27FC236}">
                  <a16:creationId xmlns:a16="http://schemas.microsoft.com/office/drawing/2014/main" id="{CFF8075D-03CC-DDD4-332C-F26F61AF7F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DE03B7A5-6E3E-5DC1-6705-A3B82F408C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480627"/>
            <a:ext cx="4505155" cy="2894495"/>
          </a:xfrm>
        </p:spPr>
        <p:txBody>
          <a:bodyPr anchor="b">
            <a:normAutofit/>
          </a:bodyPr>
          <a:lstStyle>
            <a:lvl1pPr algn="l">
              <a:defRPr sz="4400" b="0"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541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1313" y="3505200"/>
            <a:ext cx="4029859" cy="3001963"/>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1D52A9BE-2A46-4899-C38E-B513CC1AF11E}"/>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2659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2"/>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9EF1CCA-35D0-41F4-BC3D-AA1679C3E60D}"/>
              </a:ext>
              <a:ext uri="{C183D7F6-B498-43B3-948B-1728B52AA6E4}">
                <adec:decorative xmlns:adec="http://schemas.microsoft.com/office/drawing/2017/decorative" val="1"/>
              </a:ext>
            </a:extLst>
          </p:cNvPr>
          <p:cNvGrpSpPr/>
          <p:nvPr userDrawn="1"/>
        </p:nvGrpSpPr>
        <p:grpSpPr>
          <a:xfrm>
            <a:off x="1276514" y="397442"/>
            <a:ext cx="9619886" cy="6623279"/>
            <a:chOff x="1276514" y="397442"/>
            <a:chExt cx="9619886" cy="6623279"/>
          </a:xfrm>
        </p:grpSpPr>
        <p:grpSp>
          <p:nvGrpSpPr>
            <p:cNvPr id="8" name="Group 7">
              <a:extLst>
                <a:ext uri="{FF2B5EF4-FFF2-40B4-BE49-F238E27FC236}">
                  <a16:creationId xmlns:a16="http://schemas.microsoft.com/office/drawing/2014/main" id="{039112C6-05E1-7A58-F9B3-4ED607F0FEB5}"/>
                </a:ext>
              </a:extLst>
            </p:cNvPr>
            <p:cNvGrpSpPr/>
            <p:nvPr userDrawn="1"/>
          </p:nvGrpSpPr>
          <p:grpSpPr>
            <a:xfrm>
              <a:off x="1276514" y="397442"/>
              <a:ext cx="3028206" cy="3166674"/>
              <a:chOff x="5656746" y="820557"/>
              <a:chExt cx="4120055" cy="4308449"/>
            </a:xfrm>
          </p:grpSpPr>
          <p:pic>
            <p:nvPicPr>
              <p:cNvPr id="9" name="Graphic 8">
                <a:extLst>
                  <a:ext uri="{FF2B5EF4-FFF2-40B4-BE49-F238E27FC236}">
                    <a16:creationId xmlns:a16="http://schemas.microsoft.com/office/drawing/2014/main" id="{580B3039-6990-1E35-87E4-6C581CF7BA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0" name="Graphic 9">
                <a:extLst>
                  <a:ext uri="{FF2B5EF4-FFF2-40B4-BE49-F238E27FC236}">
                    <a16:creationId xmlns:a16="http://schemas.microsoft.com/office/drawing/2014/main" id="{37F0331D-9A8D-485F-9469-6B31E3D61C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grpSp>
          <p:nvGrpSpPr>
            <p:cNvPr id="12" name="Group 11">
              <a:extLst>
                <a:ext uri="{FF2B5EF4-FFF2-40B4-BE49-F238E27FC236}">
                  <a16:creationId xmlns:a16="http://schemas.microsoft.com/office/drawing/2014/main" id="{D1BCBEDD-D6D8-B22D-46D2-C061FBDFE326}"/>
                </a:ext>
              </a:extLst>
            </p:cNvPr>
            <p:cNvGrpSpPr/>
            <p:nvPr userDrawn="1"/>
          </p:nvGrpSpPr>
          <p:grpSpPr>
            <a:xfrm>
              <a:off x="6776345" y="2712272"/>
              <a:ext cx="4120055" cy="4308449"/>
              <a:chOff x="5656746" y="820557"/>
              <a:chExt cx="4120055" cy="4308449"/>
            </a:xfrm>
          </p:grpSpPr>
          <p:pic>
            <p:nvPicPr>
              <p:cNvPr id="13" name="Graphic 12">
                <a:extLst>
                  <a:ext uri="{FF2B5EF4-FFF2-40B4-BE49-F238E27FC236}">
                    <a16:creationId xmlns:a16="http://schemas.microsoft.com/office/drawing/2014/main" id="{43D2104B-238A-6958-53E9-4C3CFC4C99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FE1FCD13-2E12-4019-9FCB-3A53D17321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grpSp>
      <p:sp>
        <p:nvSpPr>
          <p:cNvPr id="7" name="Rectangle 6">
            <a:extLst>
              <a:ext uri="{FF2B5EF4-FFF2-40B4-BE49-F238E27FC236}">
                <a16:creationId xmlns:a16="http://schemas.microsoft.com/office/drawing/2014/main" id="{7CEA9FD7-5B24-27A7-2BB5-A937B6A4DA0F}"/>
              </a:ext>
              <a:ext uri="{C183D7F6-B498-43B3-948B-1728B52AA6E4}">
                <adec:decorative xmlns:adec="http://schemas.microsoft.com/office/drawing/2017/decorative" val="1"/>
              </a:ext>
            </a:extLst>
          </p:cNvPr>
          <p:cNvSpPr/>
          <p:nvPr userDrawn="1"/>
        </p:nvSpPr>
        <p:spPr>
          <a:xfrm>
            <a:off x="1038938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6C3731B0-8EE6-11A7-D5EB-431792C487D8}"/>
              </a:ext>
              <a:ext uri="{C183D7F6-B498-43B3-948B-1728B52AA6E4}">
                <adec:decorative xmlns:adec="http://schemas.microsoft.com/office/drawing/2017/decorative" val="1"/>
              </a:ext>
            </a:extLst>
          </p:cNvPr>
          <p:cNvSpPr/>
          <p:nvPr userDrawn="1"/>
        </p:nvSpPr>
        <p:spPr>
          <a:xfrm>
            <a:off x="442568" y="0"/>
            <a:ext cx="210812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18745" y="507244"/>
            <a:ext cx="9143999" cy="2162065"/>
          </a:xfrm>
        </p:spPr>
        <p:txBody>
          <a:bodyPr anchor="b">
            <a:normAutofit/>
          </a:bodyPr>
          <a:lstStyle>
            <a:lvl1pPr algn="l">
              <a:defRPr sz="4800" b="1"/>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552700" y="3586281"/>
            <a:ext cx="7086600" cy="2286000"/>
          </a:xfrm>
        </p:spPr>
        <p:txBody>
          <a:bodyPr>
            <a:normAutofit/>
          </a:bodyPr>
          <a:lstStyle>
            <a:lvl1pPr marL="0" indent="0" algn="ctr">
              <a:lnSpc>
                <a:spcPct val="100000"/>
              </a:lnSpc>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Slide Number Placeholder 5">
            <a:extLst>
              <a:ext uri="{FF2B5EF4-FFF2-40B4-BE49-F238E27FC236}">
                <a16:creationId xmlns:a16="http://schemas.microsoft.com/office/drawing/2014/main" id="{0E8AEB78-507E-76A4-533C-B685FBB93E63}"/>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30715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2">
    <p:bg>
      <p:bgPr>
        <a:solidFill>
          <a:schemeClr val="tx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08A07D-9CD9-61E7-5307-509E256E3280}"/>
              </a:ext>
              <a:ext uri="{C183D7F6-B498-43B3-948B-1728B52AA6E4}">
                <adec:decorative xmlns:adec="http://schemas.microsoft.com/office/drawing/2017/decorative" val="1"/>
              </a:ext>
            </a:extLst>
          </p:cNvPr>
          <p:cNvSpPr/>
          <p:nvPr userDrawn="1"/>
        </p:nvSpPr>
        <p:spPr>
          <a:xfrm>
            <a:off x="96819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6D3D556-F10A-EC7C-0757-E00C6BD1151D}"/>
              </a:ext>
              <a:ext uri="{C183D7F6-B498-43B3-948B-1728B52AA6E4}">
                <adec:decorative xmlns:adec="http://schemas.microsoft.com/office/drawing/2017/decorative" val="1"/>
              </a:ext>
            </a:extLst>
          </p:cNvPr>
          <p:cNvSpPr/>
          <p:nvPr userDrawn="1"/>
        </p:nvSpPr>
        <p:spPr>
          <a:xfrm>
            <a:off x="5755612" y="0"/>
            <a:ext cx="39699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0F434F37-A346-4DC3-ACA1-FE0B5DD0A9D0}"/>
              </a:ext>
              <a:ext uri="{C183D7F6-B498-43B3-948B-1728B52AA6E4}">
                <adec:decorative xmlns:adec="http://schemas.microsoft.com/office/drawing/2017/decorative" val="1"/>
              </a:ext>
            </a:extLst>
          </p:cNvPr>
          <p:cNvGrpSpPr/>
          <p:nvPr userDrawn="1"/>
        </p:nvGrpSpPr>
        <p:grpSpPr>
          <a:xfrm>
            <a:off x="1405264" y="1517829"/>
            <a:ext cx="4120055" cy="4308449"/>
            <a:chOff x="5656746" y="820557"/>
            <a:chExt cx="4120055" cy="4308449"/>
          </a:xfrm>
        </p:grpSpPr>
        <p:pic>
          <p:nvPicPr>
            <p:cNvPr id="6" name="Graphic 5">
              <a:extLst>
                <a:ext uri="{FF2B5EF4-FFF2-40B4-BE49-F238E27FC236}">
                  <a16:creationId xmlns:a16="http://schemas.microsoft.com/office/drawing/2014/main" id="{1CD6BFE6-65DF-2EFD-2AB8-EF54AE6ED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5" name="Graphic 14">
              <a:extLst>
                <a:ext uri="{FF2B5EF4-FFF2-40B4-BE49-F238E27FC236}">
                  <a16:creationId xmlns:a16="http://schemas.microsoft.com/office/drawing/2014/main" id="{772A018D-5452-637A-6EFC-8A1C55CE031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21" name="Rectangle 20">
            <a:extLst>
              <a:ext uri="{FF2B5EF4-FFF2-40B4-BE49-F238E27FC236}">
                <a16:creationId xmlns:a16="http://schemas.microsoft.com/office/drawing/2014/main" id="{43AED969-CB3F-45E5-4B56-8D4841A04265}"/>
              </a:ext>
              <a:ext uri="{C183D7F6-B498-43B3-948B-1728B52AA6E4}">
                <adec:decorative xmlns:adec="http://schemas.microsoft.com/office/drawing/2017/decorative" val="1"/>
              </a:ext>
            </a:extLst>
          </p:cNvPr>
          <p:cNvSpPr/>
          <p:nvPr userDrawn="1"/>
        </p:nvSpPr>
        <p:spPr>
          <a:xfrm>
            <a:off x="2653444"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7523" y="750316"/>
            <a:ext cx="5469591" cy="2066052"/>
          </a:xfrm>
        </p:spPr>
        <p:txBody>
          <a:bodyPr anchor="ctr">
            <a:normAutofit/>
          </a:bodyPr>
          <a:lstStyle>
            <a:lvl1pPr algn="l">
              <a:defRPr sz="4400" b="0"/>
            </a:lvl1pPr>
          </a:lstStyle>
          <a:p>
            <a:r>
              <a:rPr lang="en-US" dirty="0"/>
              <a:t>Click to add title</a:t>
            </a:r>
          </a:p>
        </p:txBody>
      </p:sp>
      <p:sp>
        <p:nvSpPr>
          <p:cNvPr id="23" name="Content Placeholder 22">
            <a:extLst>
              <a:ext uri="{FF2B5EF4-FFF2-40B4-BE49-F238E27FC236}">
                <a16:creationId xmlns:a16="http://schemas.microsoft.com/office/drawing/2014/main" id="{5F3BAA8E-44E6-12B3-F690-09AB8C245E99}"/>
              </a:ext>
            </a:extLst>
          </p:cNvPr>
          <p:cNvSpPr>
            <a:spLocks noGrp="1"/>
          </p:cNvSpPr>
          <p:nvPr>
            <p:ph sz="quarter" idx="10" hasCustomPrompt="1"/>
          </p:nvPr>
        </p:nvSpPr>
        <p:spPr>
          <a:xfrm>
            <a:off x="6297703" y="2884989"/>
            <a:ext cx="4768850" cy="3625392"/>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94A042FB-AE91-12A6-1B9A-55AE16FB5340}"/>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44997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Freeform 4">
            <a:extLst>
              <a:ext uri="{FF2B5EF4-FFF2-40B4-BE49-F238E27FC236}">
                <a16:creationId xmlns:a16="http://schemas.microsoft.com/office/drawing/2014/main" id="{FA63973E-7BCA-0A84-9988-670F7B314B7F}"/>
              </a:ext>
              <a:ext uri="{C183D7F6-B498-43B3-948B-1728B52AA6E4}">
                <adec:decorative xmlns:adec="http://schemas.microsoft.com/office/drawing/2017/decorative" val="1"/>
              </a:ext>
            </a:extLst>
          </p:cNvPr>
          <p:cNvSpPr/>
          <p:nvPr userDrawn="1"/>
        </p:nvSpPr>
        <p:spPr>
          <a:xfrm flipH="1">
            <a:off x="1928" y="1925"/>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EF9F5EDC-2D5E-96A7-AAB9-D60B6E1AFB98}"/>
              </a:ext>
              <a:ext uri="{C183D7F6-B498-43B3-948B-1728B52AA6E4}">
                <adec:decorative xmlns:adec="http://schemas.microsoft.com/office/drawing/2017/decorative" val="1"/>
              </a:ext>
            </a:extLst>
          </p:cNvPr>
          <p:cNvSpPr/>
          <p:nvPr userDrawn="1"/>
        </p:nvSpPr>
        <p:spPr>
          <a:xfrm>
            <a:off x="1526699" y="3527"/>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8424DE0-155D-2A3C-788A-5A0C0D9CDADD}"/>
              </a:ext>
              <a:ext uri="{C183D7F6-B498-43B3-948B-1728B52AA6E4}">
                <adec:decorative xmlns:adec="http://schemas.microsoft.com/office/drawing/2017/decorative" val="1"/>
              </a:ext>
            </a:extLst>
          </p:cNvPr>
          <p:cNvSpPr/>
          <p:nvPr userDrawn="1"/>
        </p:nvSpPr>
        <p:spPr>
          <a:xfrm>
            <a:off x="306728" y="275768"/>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3B87C557-55D3-F920-773C-DDD1348C42B8}"/>
              </a:ext>
              <a:ext uri="{C183D7F6-B498-43B3-948B-1728B52AA6E4}">
                <adec:decorative xmlns:adec="http://schemas.microsoft.com/office/drawing/2017/decorative" val="1"/>
              </a:ext>
            </a:extLst>
          </p:cNvPr>
          <p:cNvGrpSpPr/>
          <p:nvPr userDrawn="1"/>
        </p:nvGrpSpPr>
        <p:grpSpPr>
          <a:xfrm>
            <a:off x="72673" y="2714197"/>
            <a:ext cx="4120055" cy="4308449"/>
            <a:chOff x="5656746" y="820557"/>
            <a:chExt cx="4120055" cy="4308449"/>
          </a:xfrm>
        </p:grpSpPr>
        <p:pic>
          <p:nvPicPr>
            <p:cNvPr id="14" name="Graphic 13">
              <a:extLst>
                <a:ext uri="{FF2B5EF4-FFF2-40B4-BE49-F238E27FC236}">
                  <a16:creationId xmlns:a16="http://schemas.microsoft.com/office/drawing/2014/main" id="{1BC0724F-AE42-0E0F-E392-0C3EBB9DD8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6" name="Graphic 15">
              <a:extLst>
                <a:ext uri="{FF2B5EF4-FFF2-40B4-BE49-F238E27FC236}">
                  <a16:creationId xmlns:a16="http://schemas.microsoft.com/office/drawing/2014/main" id="{1B6F6A44-F108-5B62-1638-5680B0204E9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0667" y="405113"/>
            <a:ext cx="4505155" cy="6007261"/>
          </a:xfrm>
        </p:spPr>
        <p:txBody>
          <a:bodyPr anchor="ctr">
            <a:normAutofit/>
          </a:bodyPr>
          <a:lstStyle>
            <a:lvl1pPr algn="r">
              <a:defRPr sz="4800" b="1" spc="0" baseline="0"/>
            </a:lvl1pPr>
          </a:lstStyle>
          <a:p>
            <a:r>
              <a:rPr lang="en-US" dirty="0"/>
              <a:t>Click to add title</a:t>
            </a:r>
          </a:p>
        </p:txBody>
      </p:sp>
      <p:sp>
        <p:nvSpPr>
          <p:cNvPr id="21" name="Picture Placeholder 10">
            <a:extLst>
              <a:ext uri="{FF2B5EF4-FFF2-40B4-BE49-F238E27FC236}">
                <a16:creationId xmlns:a16="http://schemas.microsoft.com/office/drawing/2014/main" id="{83A8F0F5-EBCC-860A-B0EE-A7F56BA39A4E}"/>
              </a:ext>
            </a:extLst>
          </p:cNvPr>
          <p:cNvSpPr>
            <a:spLocks noGrp="1"/>
          </p:cNvSpPr>
          <p:nvPr>
            <p:ph type="pic" sz="quarter" idx="11" hasCustomPrompt="1"/>
          </p:nvPr>
        </p:nvSpPr>
        <p:spPr>
          <a:xfrm>
            <a:off x="5876079" y="1748992"/>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6" name="Slide Number Placeholder 5">
            <a:extLst>
              <a:ext uri="{FF2B5EF4-FFF2-40B4-BE49-F238E27FC236}">
                <a16:creationId xmlns:a16="http://schemas.microsoft.com/office/drawing/2014/main" id="{7660224B-09BE-F95F-F2DE-0EA9731AEB88}"/>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01764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Right 3">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Rectangle 2">
            <a:extLst>
              <a:ext uri="{FF2B5EF4-FFF2-40B4-BE49-F238E27FC236}">
                <a16:creationId xmlns:a16="http://schemas.microsoft.com/office/drawing/2014/main" id="{EBD13AA8-D23C-5C6A-33DF-C454CDF896BD}"/>
              </a:ext>
              <a:ext uri="{C183D7F6-B498-43B3-948B-1728B52AA6E4}">
                <adec:decorative xmlns:adec="http://schemas.microsoft.com/office/drawing/2017/decorative" val="1"/>
              </a:ext>
            </a:extLst>
          </p:cNvPr>
          <p:cNvSpPr/>
          <p:nvPr userDrawn="1"/>
        </p:nvSpPr>
        <p:spPr>
          <a:xfrm>
            <a:off x="11301493" y="0"/>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6599930" y="347620"/>
            <a:ext cx="5163939" cy="2474204"/>
          </a:xfrm>
        </p:spPr>
        <p:txBody>
          <a:bodyPr anchor="b">
            <a:normAutofit/>
          </a:bodyPr>
          <a:lstStyle>
            <a:lvl1pPr algn="l">
              <a:defRPr sz="4400" b="0" spc="0" baseline="0"/>
            </a:lvl1pPr>
          </a:lstStyle>
          <a:p>
            <a:endParaRPr lang="en-US" dirty="0"/>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0017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6599930" y="2961187"/>
            <a:ext cx="5163939" cy="3346735"/>
          </a:xfrm>
        </p:spPr>
        <p:txBody>
          <a:bodyPr>
            <a:normAutofit/>
          </a:bodyPr>
          <a:lstStyle>
            <a:lvl1pPr marL="228600" indent="-228600">
              <a:lnSpc>
                <a:spcPct val="100000"/>
              </a:lnSpc>
              <a:spcBef>
                <a:spcPts val="1000"/>
              </a:spcBef>
              <a:buFont typeface="Arial" panose="020B0604020202020204" pitchFamily="34" charset="0"/>
              <a:buChar char="•"/>
              <a:defRPr sz="2000"/>
            </a:lvl1pPr>
            <a:lvl2pPr marL="800100" indent="-228600">
              <a:lnSpc>
                <a:spcPct val="100000"/>
              </a:lnSpc>
              <a:spcBef>
                <a:spcPts val="1000"/>
              </a:spcBef>
              <a:buFont typeface="Arial" panose="020B0604020202020204" pitchFamily="34" charset="0"/>
              <a:buChar char="•"/>
              <a:defRPr sz="1800"/>
            </a:lvl2pPr>
            <a:lvl3pPr marL="1200150" indent="-228600">
              <a:lnSpc>
                <a:spcPct val="100000"/>
              </a:lnSpc>
              <a:spcBef>
                <a:spcPts val="1000"/>
              </a:spcBef>
              <a:buFont typeface="Arial" panose="020B0604020202020204" pitchFamily="34" charset="0"/>
              <a:buChar char="•"/>
              <a:defRPr sz="1600"/>
            </a:lvl3pPr>
            <a:lvl4pPr marL="1657350" indent="-228600">
              <a:lnSpc>
                <a:spcPct val="100000"/>
              </a:lnSpc>
              <a:spcBef>
                <a:spcPts val="1000"/>
              </a:spcBef>
              <a:buFont typeface="Arial" panose="020B0604020202020204" pitchFamily="34" charset="0"/>
              <a:buChar char="•"/>
              <a:defRPr sz="1400"/>
            </a:lvl4pPr>
            <a:lvl5pPr marL="2114550" indent="-228600">
              <a:lnSpc>
                <a:spcPct val="100000"/>
              </a:lnSpc>
              <a:spcBef>
                <a:spcPts val="1000"/>
              </a:spcBef>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63AD0209-DE4E-6825-8F20-EC9CF7FA6A27}"/>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28083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1">
    <p:bg>
      <p:bgPr>
        <a:solidFill>
          <a:schemeClr val="tx2"/>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1F6D51D-5B15-9B30-DC19-5F58B30523DC}"/>
              </a:ext>
              <a:ext uri="{C183D7F6-B498-43B3-948B-1728B52AA6E4}">
                <adec:decorative xmlns:adec="http://schemas.microsoft.com/office/drawing/2017/decorative" val="1"/>
              </a:ext>
            </a:extLst>
          </p:cNvPr>
          <p:cNvGrpSpPr/>
          <p:nvPr userDrawn="1"/>
        </p:nvGrpSpPr>
        <p:grpSpPr>
          <a:xfrm>
            <a:off x="837577" y="3429000"/>
            <a:ext cx="3288931" cy="3439321"/>
            <a:chOff x="5656746" y="820557"/>
            <a:chExt cx="4120055" cy="4308449"/>
          </a:xfrm>
        </p:grpSpPr>
        <p:pic>
          <p:nvPicPr>
            <p:cNvPr id="12" name="Graphic 11">
              <a:extLst>
                <a:ext uri="{FF2B5EF4-FFF2-40B4-BE49-F238E27FC236}">
                  <a16:creationId xmlns:a16="http://schemas.microsoft.com/office/drawing/2014/main" id="{A480DA77-F71B-5298-1353-A41A3B4DA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3" name="Graphic 12">
              <a:extLst>
                <a:ext uri="{FF2B5EF4-FFF2-40B4-BE49-F238E27FC236}">
                  <a16:creationId xmlns:a16="http://schemas.microsoft.com/office/drawing/2014/main" id="{90839BC8-89BD-1554-5D44-CDDBE6CA9F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4" name="Rectangle 13">
            <a:extLst>
              <a:ext uri="{FF2B5EF4-FFF2-40B4-BE49-F238E27FC236}">
                <a16:creationId xmlns:a16="http://schemas.microsoft.com/office/drawing/2014/main" id="{21216545-2BDC-F9A0-F675-174EDC926153}"/>
              </a:ext>
              <a:ext uri="{C183D7F6-B498-43B3-948B-1728B52AA6E4}">
                <adec:decorative xmlns:adec="http://schemas.microsoft.com/office/drawing/2017/decorative" val="1"/>
              </a:ext>
            </a:extLst>
          </p:cNvPr>
          <p:cNvSpPr/>
          <p:nvPr userDrawn="1"/>
        </p:nvSpPr>
        <p:spPr>
          <a:xfrm>
            <a:off x="745336"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68970B-8B94-3775-274C-FB844115E429}"/>
              </a:ext>
              <a:ext uri="{C183D7F6-B498-43B3-948B-1728B52AA6E4}">
                <adec:decorative xmlns:adec="http://schemas.microsoft.com/office/drawing/2017/decorative" val="1"/>
              </a:ext>
            </a:extLst>
          </p:cNvPr>
          <p:cNvSpPr/>
          <p:nvPr userDrawn="1"/>
        </p:nvSpPr>
        <p:spPr>
          <a:xfrm>
            <a:off x="492942"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972257-517A-A49E-FA85-ED69B1A60FFB}"/>
              </a:ext>
              <a:ext uri="{C183D7F6-B498-43B3-948B-1728B52AA6E4}">
                <adec:decorative xmlns:adec="http://schemas.microsoft.com/office/drawing/2017/decorative" val="1"/>
              </a:ext>
            </a:extLst>
          </p:cNvPr>
          <p:cNvSpPr/>
          <p:nvPr userDrawn="1"/>
        </p:nvSpPr>
        <p:spPr>
          <a:xfrm>
            <a:off x="11068288"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247067"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434851" y="1825625"/>
            <a:ext cx="4247067" cy="435133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5394AC65-CD3D-69D7-24FB-C82AA429A96F}"/>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2">
    <p:bg>
      <p:bgPr>
        <a:solidFill>
          <a:schemeClr val="tx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D04544E-40BA-0EF3-1D11-F15C7E80D37E}"/>
              </a:ext>
              <a:ext uri="{C183D7F6-B498-43B3-948B-1728B52AA6E4}">
                <adec:decorative xmlns:adec="http://schemas.microsoft.com/office/drawing/2017/decorative" val="1"/>
              </a:ext>
            </a:extLst>
          </p:cNvPr>
          <p:cNvSpPr/>
          <p:nvPr userDrawn="1"/>
        </p:nvSpPr>
        <p:spPr>
          <a:xfrm>
            <a:off x="3883561"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C06BFA7-94AE-3A18-523D-C688ECFB498E}"/>
              </a:ext>
              <a:ext uri="{C183D7F6-B498-43B3-948B-1728B52AA6E4}">
                <adec:decorative xmlns:adec="http://schemas.microsoft.com/office/drawing/2017/decorative" val="1"/>
              </a:ext>
            </a:extLst>
          </p:cNvPr>
          <p:cNvSpPr/>
          <p:nvPr userDrawn="1"/>
        </p:nvSpPr>
        <p:spPr>
          <a:xfrm>
            <a:off x="3078414"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E5786F04-54BF-9AA6-0B44-DE78BB380D05}"/>
              </a:ext>
              <a:ext uri="{C183D7F6-B498-43B3-948B-1728B52AA6E4}">
                <adec:decorative xmlns:adec="http://schemas.microsoft.com/office/drawing/2017/decorative" val="1"/>
              </a:ext>
            </a:extLst>
          </p:cNvPr>
          <p:cNvGrpSpPr/>
          <p:nvPr userDrawn="1"/>
        </p:nvGrpSpPr>
        <p:grpSpPr>
          <a:xfrm>
            <a:off x="685177" y="2407472"/>
            <a:ext cx="4120055" cy="4308449"/>
            <a:chOff x="5656746" y="820557"/>
            <a:chExt cx="4120055" cy="4308449"/>
          </a:xfrm>
        </p:grpSpPr>
        <p:pic>
          <p:nvPicPr>
            <p:cNvPr id="6" name="Graphic 5">
              <a:extLst>
                <a:ext uri="{FF2B5EF4-FFF2-40B4-BE49-F238E27FC236}">
                  <a16:creationId xmlns:a16="http://schemas.microsoft.com/office/drawing/2014/main" id="{DA2FB764-6719-6FC4-D31C-F96BBA0A6F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7" name="Graphic 6">
              <a:extLst>
                <a:ext uri="{FF2B5EF4-FFF2-40B4-BE49-F238E27FC236}">
                  <a16:creationId xmlns:a16="http://schemas.microsoft.com/office/drawing/2014/main" id="{D87175FD-8DE3-7754-36A9-07FEE388EBB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3" y="1825625"/>
            <a:ext cx="3525772" cy="4351338"/>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5149516" y="1733025"/>
            <a:ext cx="6204283" cy="398938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13">
            <a:extLst>
              <a:ext uri="{FF2B5EF4-FFF2-40B4-BE49-F238E27FC236}">
                <a16:creationId xmlns:a16="http://schemas.microsoft.com/office/drawing/2014/main" id="{EDBFC337-301C-C3ED-321C-AB4EF4A10822}"/>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3859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3">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9B0186-5603-6346-34F2-6BFA71BC62FA}"/>
              </a:ext>
              <a:ext uri="{C183D7F6-B498-43B3-948B-1728B52AA6E4}">
                <adec:decorative xmlns:adec="http://schemas.microsoft.com/office/drawing/2017/decorative" val="1"/>
              </a:ext>
            </a:extLst>
          </p:cNvPr>
          <p:cNvGrpSpPr/>
          <p:nvPr userDrawn="1"/>
        </p:nvGrpSpPr>
        <p:grpSpPr>
          <a:xfrm>
            <a:off x="5614738" y="2425699"/>
            <a:ext cx="3288931" cy="3439321"/>
            <a:chOff x="5656746" y="820557"/>
            <a:chExt cx="4120055" cy="4308449"/>
          </a:xfrm>
        </p:grpSpPr>
        <p:pic>
          <p:nvPicPr>
            <p:cNvPr id="13" name="Graphic 12">
              <a:extLst>
                <a:ext uri="{FF2B5EF4-FFF2-40B4-BE49-F238E27FC236}">
                  <a16:creationId xmlns:a16="http://schemas.microsoft.com/office/drawing/2014/main" id="{F76A59AE-96E4-A701-461B-61618472B5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48649D3D-45B7-44C7-93B4-BDC88C3284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5" name="Rectangle 14">
            <a:extLst>
              <a:ext uri="{FF2B5EF4-FFF2-40B4-BE49-F238E27FC236}">
                <a16:creationId xmlns:a16="http://schemas.microsoft.com/office/drawing/2014/main" id="{D987349E-C488-C02B-B3B1-CCDBD3A78E9C}"/>
              </a:ext>
              <a:ext uri="{C183D7F6-B498-43B3-948B-1728B52AA6E4}">
                <adec:decorative xmlns:adec="http://schemas.microsoft.com/office/drawing/2017/decorative" val="1"/>
              </a:ext>
            </a:extLst>
          </p:cNvPr>
          <p:cNvSpPr/>
          <p:nvPr userDrawn="1"/>
        </p:nvSpPr>
        <p:spPr>
          <a:xfrm>
            <a:off x="1524771"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12520" y="1825625"/>
            <a:ext cx="4825294" cy="4651375"/>
          </a:xfrm>
        </p:spPr>
        <p:txBody>
          <a:bodyPr>
            <a:normAutofit/>
          </a:bodyPr>
          <a:lstStyle>
            <a:lvl1pPr>
              <a:spcAft>
                <a:spcPts val="800"/>
              </a:spcAft>
              <a:defRPr sz="2000"/>
            </a:lvl1pPr>
            <a:lvl2pPr marL="457200" indent="0">
              <a:spcAft>
                <a:spcPts val="800"/>
              </a:spcAft>
              <a:buNone/>
              <a:defRPr sz="2000"/>
            </a:lvl2pPr>
            <a:lvl3pPr marL="914400" indent="0">
              <a:spcAft>
                <a:spcPts val="800"/>
              </a:spcAft>
              <a:buNone/>
              <a:defRPr sz="2000"/>
            </a:lvl3pPr>
            <a:lvl4pPr marL="1371600" indent="0">
              <a:spcAft>
                <a:spcPts val="800"/>
              </a:spcAft>
              <a:buNone/>
              <a:defRPr sz="2000"/>
            </a:lvl4pPr>
            <a:lvl5pPr marL="1828800" indent="0">
              <a:spcAft>
                <a:spcPts val="800"/>
              </a:spcAf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696778" y="1813720"/>
            <a:ext cx="4657021" cy="4051300"/>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5F004FE-7725-F349-1245-F443F9E81B95}"/>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907276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F97B6B-1E04-799C-CDFE-9DAFCA938BE8}"/>
              </a:ext>
              <a:ext uri="{C183D7F6-B498-43B3-948B-1728B52AA6E4}">
                <adec:decorative xmlns:adec="http://schemas.microsoft.com/office/drawing/2017/decorative" val="1"/>
              </a:ext>
            </a:extLst>
          </p:cNvPr>
          <p:cNvSpPr/>
          <p:nvPr userDrawn="1"/>
        </p:nvSpPr>
        <p:spPr>
          <a:xfrm>
            <a:off x="10028970" y="13063"/>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111DE0A-4C1D-01B1-AA49-D966343F6551}"/>
              </a:ext>
              <a:ext uri="{C183D7F6-B498-43B3-948B-1728B52AA6E4}">
                <adec:decorative xmlns:adec="http://schemas.microsoft.com/office/drawing/2017/decorative" val="1"/>
              </a:ext>
            </a:extLst>
          </p:cNvPr>
          <p:cNvSpPr/>
          <p:nvPr userDrawn="1"/>
        </p:nvSpPr>
        <p:spPr>
          <a:xfrm>
            <a:off x="3777288" y="0"/>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BEA20E-0FF2-2897-8BD6-8EFAA8C8D9CB}"/>
              </a:ext>
              <a:ext uri="{C183D7F6-B498-43B3-948B-1728B52AA6E4}">
                <adec:decorative xmlns:adec="http://schemas.microsoft.com/office/drawing/2017/decorative" val="1"/>
              </a:ext>
            </a:extLst>
          </p:cNvPr>
          <p:cNvSpPr/>
          <p:nvPr userDrawn="1"/>
        </p:nvSpPr>
        <p:spPr>
          <a:xfrm>
            <a:off x="10278460"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6" name="Table Placeholder 5">
            <a:extLst>
              <a:ext uri="{FF2B5EF4-FFF2-40B4-BE49-F238E27FC236}">
                <a16:creationId xmlns:a16="http://schemas.microsoft.com/office/drawing/2014/main" id="{E259F776-4BD1-2F21-61F0-3B60DF6F0366}"/>
              </a:ext>
            </a:extLst>
          </p:cNvPr>
          <p:cNvSpPr>
            <a:spLocks noGrp="1"/>
          </p:cNvSpPr>
          <p:nvPr>
            <p:ph type="tbl" sz="quarter" idx="10"/>
          </p:nvPr>
        </p:nvSpPr>
        <p:spPr>
          <a:xfrm>
            <a:off x="838200" y="1825625"/>
            <a:ext cx="10515600" cy="4054475"/>
          </a:xfr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table</a:t>
            </a:r>
          </a:p>
        </p:txBody>
      </p:sp>
      <p:sp>
        <p:nvSpPr>
          <p:cNvPr id="5" name="Slide Number Placeholder 4">
            <a:extLst>
              <a:ext uri="{FF2B5EF4-FFF2-40B4-BE49-F238E27FC236}">
                <a16:creationId xmlns:a16="http://schemas.microsoft.com/office/drawing/2014/main" id="{B22987B8-BA6E-EE2B-BFB9-D52D6D956AF7}"/>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31086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4">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4A07D69-1AF2-A193-316E-DD3803E94269}"/>
              </a:ext>
              <a:ext uri="{C183D7F6-B498-43B3-948B-1728B52AA6E4}">
                <adec:decorative xmlns:adec="http://schemas.microsoft.com/office/drawing/2017/decorative" val="1"/>
              </a:ext>
            </a:extLst>
          </p:cNvPr>
          <p:cNvSpPr/>
          <p:nvPr userDrawn="1"/>
        </p:nvSpPr>
        <p:spPr>
          <a:xfrm>
            <a:off x="56520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4E4D2FA-0049-1792-F6B4-D5FE1EE5A78A}"/>
              </a:ext>
              <a:ext uri="{C183D7F6-B498-43B3-948B-1728B52AA6E4}">
                <adec:decorative xmlns:adec="http://schemas.microsoft.com/office/drawing/2017/decorative" val="1"/>
              </a:ext>
            </a:extLst>
          </p:cNvPr>
          <p:cNvSpPr/>
          <p:nvPr userDrawn="1"/>
        </p:nvSpPr>
        <p:spPr>
          <a:xfrm>
            <a:off x="10392348"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86E6ACF-3879-BE02-100B-2096C22357AB}"/>
              </a:ext>
              <a:ext uri="{C183D7F6-B498-43B3-948B-1728B52AA6E4}">
                <adec:decorative xmlns:adec="http://schemas.microsoft.com/office/drawing/2017/decorative" val="1"/>
              </a:ext>
            </a:extLst>
          </p:cNvPr>
          <p:cNvSpPr/>
          <p:nvPr userDrawn="1"/>
        </p:nvSpPr>
        <p:spPr>
          <a:xfrm>
            <a:off x="764323"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E74699B-D6F0-303E-200A-7017E1842F99}"/>
              </a:ext>
              <a:ext uri="{C183D7F6-B498-43B3-948B-1728B52AA6E4}">
                <adec:decorative xmlns:adec="http://schemas.microsoft.com/office/drawing/2017/decorative" val="1"/>
              </a:ext>
            </a:extLst>
          </p:cNvPr>
          <p:cNvGrpSpPr/>
          <p:nvPr userDrawn="1"/>
        </p:nvGrpSpPr>
        <p:grpSpPr>
          <a:xfrm>
            <a:off x="7506739" y="2603777"/>
            <a:ext cx="4120055" cy="4308449"/>
            <a:chOff x="5656746" y="820557"/>
            <a:chExt cx="4120055" cy="4308449"/>
          </a:xfrm>
        </p:grpSpPr>
        <p:pic>
          <p:nvPicPr>
            <p:cNvPr id="7" name="Graphic 6">
              <a:extLst>
                <a:ext uri="{FF2B5EF4-FFF2-40B4-BE49-F238E27FC236}">
                  <a16:creationId xmlns:a16="http://schemas.microsoft.com/office/drawing/2014/main" id="{9C9E38E0-92AE-5063-B259-A22230AA6A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7260EEF0-1C13-AD9A-0967-0460B979EA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38FE848A-1123-37B6-C43C-5DC49EE0A1D8}"/>
              </a:ext>
            </a:extLst>
          </p:cNvPr>
          <p:cNvSpPr>
            <a:spLocks noGrp="1"/>
          </p:cNvSpPr>
          <p:nvPr>
            <p:ph idx="11" hasCustomPrompt="1"/>
          </p:nvPr>
        </p:nvSpPr>
        <p:spPr>
          <a:xfrm>
            <a:off x="6412173"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a:extLst>
              <a:ext uri="{FF2B5EF4-FFF2-40B4-BE49-F238E27FC236}">
                <a16:creationId xmlns:a16="http://schemas.microsoft.com/office/drawing/2014/main" id="{0FB0C591-7E28-3722-4795-07BFB9ED09CF}"/>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02851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05312039-7E28-974D-ED1C-90F1E53E9C97}"/>
              </a:ext>
              <a:ext uri="{C183D7F6-B498-43B3-948B-1728B52AA6E4}">
                <adec:decorative xmlns:adec="http://schemas.microsoft.com/office/drawing/2017/decorative" val="1"/>
              </a:ext>
            </a:extLst>
          </p:cNvPr>
          <p:cNvSpPr/>
          <p:nvPr userDrawn="1"/>
        </p:nvSpPr>
        <p:spPr>
          <a:xfrm>
            <a:off x="11301493" y="0"/>
            <a:ext cx="109162"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382344"/>
            <a:ext cx="4377767" cy="2719337"/>
          </a:xfrm>
        </p:spPr>
        <p:txBody>
          <a:bodyPr anchor="b">
            <a:normAutofit/>
          </a:bodyPr>
          <a:lstStyle>
            <a:lvl1pPr algn="l">
              <a:defRPr sz="4400" b="1"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1745" y="1751759"/>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9992" y="3340800"/>
            <a:ext cx="4368450" cy="3166331"/>
          </a:xfrm>
        </p:spPr>
        <p:txBody>
          <a:bodyPr>
            <a:normAutofit/>
          </a:bodyPr>
          <a:lstStyle>
            <a:lvl1pPr marL="0" indent="0">
              <a:lnSpc>
                <a:spcPct val="90000"/>
              </a:lnSpc>
              <a:spcBef>
                <a:spcPts val="1000"/>
              </a:spcBef>
              <a:buFont typeface="Arial" panose="020B0604020202020204" pitchFamily="34" charset="0"/>
              <a:buNone/>
              <a:defRPr sz="2000"/>
            </a:lvl1pPr>
            <a:lvl2pPr marL="571500" indent="0">
              <a:lnSpc>
                <a:spcPct val="90000"/>
              </a:lnSpc>
              <a:spcBef>
                <a:spcPts val="1000"/>
              </a:spcBef>
              <a:buFont typeface="Arial" panose="020B0604020202020204" pitchFamily="34" charset="0"/>
              <a:buNone/>
              <a:defRPr sz="1800"/>
            </a:lvl2pPr>
            <a:lvl3pPr marL="971550" indent="0">
              <a:lnSpc>
                <a:spcPct val="90000"/>
              </a:lnSpc>
              <a:spcBef>
                <a:spcPts val="1000"/>
              </a:spcBef>
              <a:buFont typeface="Arial" panose="020B0604020202020204" pitchFamily="34" charset="0"/>
              <a:buNone/>
              <a:defRPr sz="1600"/>
            </a:lvl3pPr>
            <a:lvl4pPr marL="1428750" indent="0">
              <a:lnSpc>
                <a:spcPct val="90000"/>
              </a:lnSpc>
              <a:spcBef>
                <a:spcPts val="1000"/>
              </a:spcBef>
              <a:buFont typeface="Arial" panose="020B0604020202020204" pitchFamily="34" charset="0"/>
              <a:buNone/>
              <a:defRPr sz="1400"/>
            </a:lvl4pPr>
            <a:lvl5pPr marL="1885950" indent="0">
              <a:lnSpc>
                <a:spcPct val="90000"/>
              </a:lnSpc>
              <a:spcBef>
                <a:spcPts val="1000"/>
              </a:spcBef>
              <a:buFont typeface="Arial" panose="020B0604020202020204" pitchFamily="34" charset="0"/>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2793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F284CE42-5F4D-E722-7ABC-852575A3EBA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52FCB7E-A25D-2786-57F4-CAC8C0B7EE0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B908020-3841-3809-A971-C013AF1CA4DB}"/>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6D726-924C-E5EB-B28C-E3B9B44623EE}"/>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8279A287-35CA-B289-525D-D67FB24B3B9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5EB2365-305E-AE99-1CD4-605540C718EB}"/>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18754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145255"/>
            <a:ext cx="2743200" cy="365125"/>
          </a:xfrm>
          <a:prstGeom prst="rect">
            <a:avLst/>
          </a:prstGeom>
        </p:spPr>
        <p:txBody>
          <a:bodyPr vert="horz" lIns="91440" tIns="45720" rIns="91440" bIns="45720" rtlCol="0" anchor="ctr"/>
          <a:lstStyle>
            <a:lvl1pPr algn="l">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0922000" y="6145255"/>
            <a:ext cx="845114" cy="365125"/>
          </a:xfrm>
          <a:prstGeom prst="rect">
            <a:avLst/>
          </a:prstGeom>
        </p:spPr>
        <p:txBody>
          <a:bodyPr vert="horz" lIns="91440" tIns="45720" rIns="91440" bIns="45720" rtlCol="0" anchor="ctr"/>
          <a:lstStyle>
            <a:lvl1pPr algn="r">
              <a:defRPr sz="1200">
                <a:solidFill>
                  <a:schemeClr val="bg1"/>
                </a:solidFill>
              </a:defRPr>
            </a:lvl1p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51AFD02D-325A-F2A8-9A62-D6D0AF0693E9}"/>
              </a:ext>
            </a:extLst>
          </p:cNvPr>
          <p:cNvSpPr>
            <a:spLocks noGrp="1"/>
          </p:cNvSpPr>
          <p:nvPr>
            <p:ph type="ftr" sz="quarter" idx="3"/>
          </p:nvPr>
        </p:nvSpPr>
        <p:spPr>
          <a:xfrm>
            <a:off x="4038600" y="6145255"/>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6" r:id="rId3"/>
    <p:sldLayoutId id="2147483663" r:id="rId4"/>
    <p:sldLayoutId id="2147483667" r:id="rId5"/>
    <p:sldLayoutId id="2147483668" r:id="rId6"/>
    <p:sldLayoutId id="2147483669" r:id="rId7"/>
    <p:sldLayoutId id="2147483650" r:id="rId8"/>
    <p:sldLayoutId id="2147483670" r:id="rId9"/>
    <p:sldLayoutId id="2147483671" r:id="rId10"/>
    <p:sldLayoutId id="2147483672" r:id="rId11"/>
    <p:sldLayoutId id="2147483673" r:id="rId12"/>
    <p:sldLayoutId id="2147483674" r:id="rId13"/>
    <p:sldLayoutId id="2147483654" r:id="rId14"/>
    <p:sldLayoutId id="2147483655" r:id="rId15"/>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00000"/>
        </a:lnSpc>
        <a:spcBef>
          <a:spcPts val="10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00000"/>
        </a:lnSpc>
        <a:spcBef>
          <a:spcPts val="10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00000"/>
        </a:lnSpc>
        <a:spcBef>
          <a:spcPts val="10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00000"/>
        </a:lnSpc>
        <a:spcBef>
          <a:spcPts val="10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7D68AA-F29B-C7DF-1BA0-FEC550F14B42}"/>
              </a:ext>
            </a:extLst>
          </p:cNvPr>
          <p:cNvSpPr/>
          <p:nvPr/>
        </p:nvSpPr>
        <p:spPr>
          <a:xfrm>
            <a:off x="7924799" y="2852057"/>
            <a:ext cx="3537858" cy="3293198"/>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63F774F-9FAE-BB64-A2BE-BFC84AB905EA}"/>
              </a:ext>
            </a:extLst>
          </p:cNvPr>
          <p:cNvSpPr>
            <a:spLocks noGrp="1"/>
          </p:cNvSpPr>
          <p:nvPr>
            <p:ph type="ctrTitle"/>
          </p:nvPr>
        </p:nvSpPr>
        <p:spPr>
          <a:xfrm>
            <a:off x="1632857" y="507244"/>
            <a:ext cx="9851572" cy="1605399"/>
          </a:xfrm>
        </p:spPr>
        <p:txBody>
          <a:bodyPr/>
          <a:lstStyle/>
          <a:p>
            <a:pPr algn="ctr"/>
            <a:r>
              <a:rPr lang="en-US" dirty="0">
                <a:latin typeface="Times New Roman" panose="02020603050405020304" pitchFamily="18" charset="0"/>
                <a:cs typeface="Times New Roman" panose="02020603050405020304" pitchFamily="18" charset="0"/>
              </a:rPr>
              <a:t> Industrial Training Project</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04EBE95-B9D7-C082-5CD3-B3A8E0D16CE5}"/>
              </a:ext>
            </a:extLst>
          </p:cNvPr>
          <p:cNvSpPr>
            <a:spLocks noGrp="1"/>
          </p:cNvSpPr>
          <p:nvPr>
            <p:ph type="subTitle" idx="1"/>
          </p:nvPr>
        </p:nvSpPr>
        <p:spPr>
          <a:xfrm>
            <a:off x="6999514" y="3145155"/>
            <a:ext cx="5388429" cy="2716255"/>
          </a:xfrm>
        </p:spPr>
        <p:txBody>
          <a:bodyPr>
            <a:normAutofit fontScale="77500" lnSpcReduction="20000"/>
          </a:bodyPr>
          <a:lstStyle/>
          <a:p>
            <a:r>
              <a:rPr lang="en-US" sz="4600" b="1" dirty="0">
                <a:latin typeface="Times New Roman" panose="02020603050405020304" pitchFamily="18" charset="0"/>
                <a:cs typeface="Times New Roman" panose="02020603050405020304" pitchFamily="18" charset="0"/>
              </a:rPr>
              <a:t>Stock Market </a:t>
            </a:r>
          </a:p>
          <a:p>
            <a:r>
              <a:rPr lang="en-US" sz="4600" b="1" dirty="0">
                <a:latin typeface="Times New Roman" panose="02020603050405020304" pitchFamily="18" charset="0"/>
                <a:cs typeface="Times New Roman" panose="02020603050405020304" pitchFamily="18" charset="0"/>
              </a:rPr>
              <a:t>Price Prediction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Pragati Singh</a:t>
            </a:r>
          </a:p>
          <a:p>
            <a:r>
              <a:rPr lang="en-US" dirty="0">
                <a:latin typeface="Times New Roman" panose="02020603050405020304" pitchFamily="18" charset="0"/>
                <a:cs typeface="Times New Roman" panose="02020603050405020304" pitchFamily="18" charset="0"/>
              </a:rPr>
              <a:t>00913211621</a:t>
            </a:r>
          </a:p>
          <a:p>
            <a:r>
              <a:rPr lang="en-US" dirty="0">
                <a:latin typeface="Times New Roman" panose="02020603050405020304" pitchFamily="18" charset="0"/>
                <a:cs typeface="Times New Roman" panose="02020603050405020304" pitchFamily="18" charset="0"/>
              </a:rPr>
              <a:t>AIML(7</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sem</a:t>
            </a:r>
            <a:r>
              <a:rPr lang="en-US"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A5E2580F-6C96-82C1-82D8-8A4991683C11}"/>
              </a:ext>
            </a:extLst>
          </p:cNvPr>
          <p:cNvSpPr>
            <a:spLocks noGrp="1"/>
          </p:cNvSpPr>
          <p:nvPr>
            <p:ph type="sldNum" sz="quarter" idx="12"/>
          </p:nvPr>
        </p:nvSpPr>
        <p:spPr/>
        <p:txBody>
          <a:bodyPr/>
          <a:lstStyle/>
          <a:p>
            <a:fld id="{294A09A9-5501-47C1-A89A-A340965A2BE2}" type="slidenum">
              <a:rPr lang="en-US" smtClean="0"/>
              <a:pPr/>
              <a:t>1</a:t>
            </a:fld>
            <a:endParaRPr lang="en-US" dirty="0"/>
          </a:p>
        </p:txBody>
      </p:sp>
      <p:pic>
        <p:nvPicPr>
          <p:cNvPr id="6" name="Picture 5">
            <a:extLst>
              <a:ext uri="{FF2B5EF4-FFF2-40B4-BE49-F238E27FC236}">
                <a16:creationId xmlns:a16="http://schemas.microsoft.com/office/drawing/2014/main" id="{B3F5E471-2F21-911D-A973-A1109A0A9054}"/>
              </a:ext>
            </a:extLst>
          </p:cNvPr>
          <p:cNvPicPr>
            <a:picLocks noChangeAspect="1"/>
          </p:cNvPicPr>
          <p:nvPr/>
        </p:nvPicPr>
        <p:blipFill>
          <a:blip r:embed="rId2"/>
          <a:stretch>
            <a:fillRect/>
          </a:stretch>
        </p:blipFill>
        <p:spPr>
          <a:xfrm>
            <a:off x="527957" y="2612571"/>
            <a:ext cx="6934200" cy="3781425"/>
          </a:xfrm>
          <a:prstGeom prst="rect">
            <a:avLst/>
          </a:prstGeom>
        </p:spPr>
      </p:pic>
    </p:spTree>
    <p:extLst>
      <p:ext uri="{BB962C8B-B14F-4D97-AF65-F5344CB8AC3E}">
        <p14:creationId xmlns:p14="http://schemas.microsoft.com/office/powerpoint/2010/main" val="878237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6925-12B9-78D2-B4CD-5B54F7A12E51}"/>
              </a:ext>
            </a:extLst>
          </p:cNvPr>
          <p:cNvSpPr>
            <a:spLocks noGrp="1"/>
          </p:cNvSpPr>
          <p:nvPr>
            <p:ph type="ctrTitle"/>
          </p:nvPr>
        </p:nvSpPr>
        <p:spPr>
          <a:xfrm>
            <a:off x="1518745" y="507244"/>
            <a:ext cx="9143999" cy="809927"/>
          </a:xfrm>
        </p:spPr>
        <p:txBody>
          <a:bodyPr/>
          <a:lstStyle/>
          <a:p>
            <a:pPr algn="ctr"/>
            <a:r>
              <a:rPr lang="en-US" dirty="0"/>
              <a:t>CERTIFICATE</a:t>
            </a:r>
            <a:endParaRPr lang="en-IN" dirty="0"/>
          </a:p>
        </p:txBody>
      </p:sp>
      <p:sp>
        <p:nvSpPr>
          <p:cNvPr id="4" name="Slide Number Placeholder 3">
            <a:extLst>
              <a:ext uri="{FF2B5EF4-FFF2-40B4-BE49-F238E27FC236}">
                <a16:creationId xmlns:a16="http://schemas.microsoft.com/office/drawing/2014/main" id="{3A6EF833-A49C-7C9B-55EE-4518B21FF095}"/>
              </a:ext>
            </a:extLst>
          </p:cNvPr>
          <p:cNvSpPr>
            <a:spLocks noGrp="1"/>
          </p:cNvSpPr>
          <p:nvPr>
            <p:ph type="sldNum" sz="quarter" idx="12"/>
          </p:nvPr>
        </p:nvSpPr>
        <p:spPr/>
        <p:txBody>
          <a:bodyPr/>
          <a:lstStyle/>
          <a:p>
            <a:fld id="{294A09A9-5501-47C1-A89A-A340965A2BE2}" type="slidenum">
              <a:rPr lang="en-US" smtClean="0"/>
              <a:pPr/>
              <a:t>2</a:t>
            </a:fld>
            <a:endParaRPr lang="en-US" dirty="0"/>
          </a:p>
        </p:txBody>
      </p:sp>
      <p:pic>
        <p:nvPicPr>
          <p:cNvPr id="5" name="Picture 4">
            <a:extLst>
              <a:ext uri="{FF2B5EF4-FFF2-40B4-BE49-F238E27FC236}">
                <a16:creationId xmlns:a16="http://schemas.microsoft.com/office/drawing/2014/main" id="{38F35875-89D4-8E71-2ABB-5F50CE4F801B}"/>
              </a:ext>
            </a:extLst>
          </p:cNvPr>
          <p:cNvPicPr>
            <a:picLocks noChangeAspect="1"/>
          </p:cNvPicPr>
          <p:nvPr/>
        </p:nvPicPr>
        <p:blipFill>
          <a:blip r:embed="rId2"/>
          <a:stretch>
            <a:fillRect/>
          </a:stretch>
        </p:blipFill>
        <p:spPr>
          <a:xfrm>
            <a:off x="2010611" y="398580"/>
            <a:ext cx="8160266" cy="6060840"/>
          </a:xfrm>
          <a:prstGeom prst="rect">
            <a:avLst/>
          </a:prstGeom>
        </p:spPr>
      </p:pic>
    </p:spTree>
    <p:extLst>
      <p:ext uri="{BB962C8B-B14F-4D97-AF65-F5344CB8AC3E}">
        <p14:creationId xmlns:p14="http://schemas.microsoft.com/office/powerpoint/2010/main" val="106951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16B8A2-DE55-017A-C7F7-9EDB590D8006}"/>
              </a:ext>
            </a:extLst>
          </p:cNvPr>
          <p:cNvSpPr/>
          <p:nvPr/>
        </p:nvSpPr>
        <p:spPr>
          <a:xfrm>
            <a:off x="1107009" y="1262201"/>
            <a:ext cx="9977982" cy="489376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5901131-1AC9-3D8A-F6DC-74AE7B8B2E90}"/>
              </a:ext>
            </a:extLst>
          </p:cNvPr>
          <p:cNvSpPr>
            <a:spLocks noGrp="1"/>
          </p:cNvSpPr>
          <p:nvPr>
            <p:ph type="ctrTitle"/>
          </p:nvPr>
        </p:nvSpPr>
        <p:spPr>
          <a:xfrm>
            <a:off x="1262743" y="347619"/>
            <a:ext cx="10504371" cy="1013095"/>
          </a:xfrm>
        </p:spPr>
        <p:txBody>
          <a:bodyPr/>
          <a:lstStyle/>
          <a:p>
            <a:pPr algn="ctr"/>
            <a:r>
              <a:rPr lang="en-US" b="1" dirty="0">
                <a:latin typeface="Times New Roman" panose="02020603050405020304" pitchFamily="18" charset="0"/>
                <a:cs typeface="Times New Roman" panose="02020603050405020304" pitchFamily="18" charset="0"/>
              </a:rPr>
              <a:t>Data Science Training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925C89-16C6-8660-6786-A0DBC3531504}"/>
              </a:ext>
            </a:extLst>
          </p:cNvPr>
          <p:cNvSpPr>
            <a:spLocks noGrp="1"/>
          </p:cNvSpPr>
          <p:nvPr>
            <p:ph sz="quarter" idx="10"/>
          </p:nvPr>
        </p:nvSpPr>
        <p:spPr>
          <a:xfrm>
            <a:off x="1262743" y="1447801"/>
            <a:ext cx="9659257" cy="5040446"/>
          </a:xfrm>
        </p:spPr>
        <p:txBody>
          <a:bodyPr>
            <a:normAutofit/>
          </a:bodyPr>
          <a:lstStyle/>
          <a:p>
            <a:endParaRPr lang="en-IN" sz="1800" dirty="0">
              <a:effectLst/>
              <a:latin typeface="Times New Roman" panose="02020603050405020304" pitchFamily="18" charset="0"/>
              <a:ea typeface="Arial MT"/>
              <a:cs typeface="Arial MT"/>
            </a:endParaRPr>
          </a:p>
          <a:p>
            <a:pPr marL="285750" indent="-285750">
              <a:buFont typeface="Wingdings" panose="05000000000000000000" pitchFamily="2" charset="2"/>
              <a:buChar char="ü"/>
            </a:pPr>
            <a:r>
              <a:rPr lang="en-IN" sz="1800" dirty="0">
                <a:effectLst/>
                <a:latin typeface="Times New Roman" panose="02020603050405020304" pitchFamily="18" charset="0"/>
                <a:ea typeface="Arial MT"/>
                <a:cs typeface="Arial MT"/>
              </a:rPr>
              <a:t>The foundation of this work is built upon the skills gained during a comprehensive 6-week certified training program on Data Science, which I completed through </a:t>
            </a:r>
            <a:r>
              <a:rPr lang="en-IN" sz="1800" dirty="0" err="1">
                <a:effectLst/>
                <a:latin typeface="Times New Roman" panose="02020603050405020304" pitchFamily="18" charset="0"/>
                <a:ea typeface="Arial MT"/>
                <a:cs typeface="Arial MT"/>
              </a:rPr>
              <a:t>Internshala</a:t>
            </a:r>
            <a:r>
              <a:rPr lang="en-IN" sz="1800" dirty="0">
                <a:effectLst/>
                <a:latin typeface="Times New Roman" panose="02020603050405020304" pitchFamily="18" charset="0"/>
                <a:ea typeface="Arial MT"/>
                <a:cs typeface="Arial MT"/>
              </a:rPr>
              <a:t>.</a:t>
            </a:r>
          </a:p>
          <a:p>
            <a:pPr marL="285750" indent="-285750">
              <a:buFont typeface="Wingdings" panose="05000000000000000000" pitchFamily="2" charset="2"/>
              <a:buChar char="ü"/>
            </a:pPr>
            <a:r>
              <a:rPr lang="en-IN" sz="1800" dirty="0">
                <a:effectLst/>
                <a:latin typeface="Times New Roman" panose="02020603050405020304" pitchFamily="18" charset="0"/>
                <a:ea typeface="Arial MT"/>
                <a:cs typeface="Arial MT"/>
              </a:rPr>
              <a:t> The training covered essential concepts, including Python programming for data science, statistics, predictive </a:t>
            </a:r>
            <a:r>
              <a:rPr lang="en-IN" sz="1800" dirty="0" err="1">
                <a:effectLst/>
                <a:latin typeface="Times New Roman" panose="02020603050405020304" pitchFamily="18" charset="0"/>
                <a:ea typeface="Arial MT"/>
                <a:cs typeface="Arial MT"/>
              </a:rPr>
              <a:t>modeling</a:t>
            </a:r>
            <a:r>
              <a:rPr lang="en-IN" sz="1800" dirty="0">
                <a:effectLst/>
                <a:latin typeface="Times New Roman" panose="02020603050405020304" pitchFamily="18" charset="0"/>
                <a:ea typeface="Arial MT"/>
                <a:cs typeface="Arial MT"/>
              </a:rPr>
              <a:t>, and machine learning algorithms. </a:t>
            </a:r>
          </a:p>
          <a:p>
            <a:pPr marL="285750" indent="-285750">
              <a:buFont typeface="Wingdings" panose="05000000000000000000" pitchFamily="2" charset="2"/>
              <a:buChar char="ü"/>
            </a:pPr>
            <a:r>
              <a:rPr lang="en-IN" sz="1800" dirty="0">
                <a:effectLst/>
                <a:latin typeface="Times New Roman" panose="02020603050405020304" pitchFamily="18" charset="0"/>
                <a:ea typeface="Arial MT"/>
                <a:cs typeface="Arial MT"/>
              </a:rPr>
              <a:t>These concepts were critical in developing a deeper understanding of data analysis techniques and machine learning models, enabling the successful completion of this project.</a:t>
            </a:r>
          </a:p>
          <a:p>
            <a:pPr marL="285750" indent="-285750">
              <a:buFont typeface="Wingdings" panose="05000000000000000000" pitchFamily="2" charset="2"/>
              <a:buChar char="ü"/>
            </a:pPr>
            <a:r>
              <a:rPr lang="en-IN" sz="1800" dirty="0">
                <a:effectLst/>
                <a:latin typeface="Times New Roman" panose="02020603050405020304" pitchFamily="18" charset="0"/>
                <a:ea typeface="Arial MT"/>
                <a:cs typeface="Arial MT"/>
              </a:rPr>
              <a:t>The skills gained from this training were directly applied to the stock market prediction project, where advanced machine learning techniques, specifically Long Short-Term Memory (LSTM) networks, were employed to predict stock prices. </a:t>
            </a:r>
          </a:p>
          <a:p>
            <a:pPr marL="285750" indent="-285750">
              <a:buFont typeface="Wingdings" panose="05000000000000000000" pitchFamily="2" charset="2"/>
              <a:buChar char="ü"/>
            </a:pPr>
            <a:r>
              <a:rPr lang="en-IN" sz="1800" dirty="0">
                <a:effectLst/>
                <a:latin typeface="Times New Roman" panose="02020603050405020304" pitchFamily="18" charset="0"/>
                <a:ea typeface="Arial MT"/>
                <a:cs typeface="Arial MT"/>
              </a:rPr>
              <a:t>The training also reinforced essential concepts such as data preprocessing, model evaluation, and visualization, which were pivotal in delivering a robust solution.</a:t>
            </a:r>
            <a:endParaRPr lang="en-IN" sz="1800" dirty="0">
              <a:effectLst/>
              <a:latin typeface="Arial MT"/>
              <a:ea typeface="Arial MT"/>
              <a:cs typeface="Arial MT"/>
            </a:endParaRPr>
          </a:p>
          <a:p>
            <a:endParaRPr lang="en-IN" sz="1800" dirty="0">
              <a:effectLst/>
              <a:latin typeface="Arial MT"/>
              <a:ea typeface="Arial MT"/>
              <a:cs typeface="Arial MT"/>
            </a:endParaRPr>
          </a:p>
          <a:p>
            <a:endParaRPr lang="en-IN" dirty="0"/>
          </a:p>
        </p:txBody>
      </p:sp>
      <p:sp>
        <p:nvSpPr>
          <p:cNvPr id="4" name="Slide Number Placeholder 3">
            <a:extLst>
              <a:ext uri="{FF2B5EF4-FFF2-40B4-BE49-F238E27FC236}">
                <a16:creationId xmlns:a16="http://schemas.microsoft.com/office/drawing/2014/main" id="{3A5218B3-BF8D-25E1-40B0-6F947E1DF853}"/>
              </a:ext>
            </a:extLst>
          </p:cNvPr>
          <p:cNvSpPr>
            <a:spLocks noGrp="1"/>
          </p:cNvSpPr>
          <p:nvPr>
            <p:ph type="sldNum" sz="quarter" idx="13"/>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3484990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957944" y="511630"/>
            <a:ext cx="10284714" cy="881742"/>
          </a:xfrm>
        </p:spPr>
        <p:txBody>
          <a:bodyPr anchor="b">
            <a:normAutofit/>
          </a:bodyPr>
          <a:lstStyle/>
          <a:p>
            <a:pPr algn="ctr"/>
            <a:r>
              <a:rPr lang="en-US" dirty="0"/>
              <a:t>Modules Covered</a:t>
            </a:r>
          </a:p>
        </p:txBody>
      </p:sp>
      <p:sp>
        <p:nvSpPr>
          <p:cNvPr id="6" name="TextBox 5">
            <a:extLst>
              <a:ext uri="{FF2B5EF4-FFF2-40B4-BE49-F238E27FC236}">
                <a16:creationId xmlns:a16="http://schemas.microsoft.com/office/drawing/2014/main" id="{5296D04A-C83A-926E-1020-0BEFC0141A76}"/>
              </a:ext>
            </a:extLst>
          </p:cNvPr>
          <p:cNvSpPr txBox="1"/>
          <p:nvPr/>
        </p:nvSpPr>
        <p:spPr>
          <a:xfrm>
            <a:off x="957944" y="1817913"/>
            <a:ext cx="5268685" cy="3940629"/>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07E9DE8F-DBBE-1D51-BEDA-41E2A5E304FD}"/>
              </a:ext>
            </a:extLst>
          </p:cNvPr>
          <p:cNvSpPr txBox="1"/>
          <p:nvPr/>
        </p:nvSpPr>
        <p:spPr>
          <a:xfrm>
            <a:off x="957943" y="1817913"/>
            <a:ext cx="5268685" cy="3889078"/>
          </a:xfrm>
          <a:prstGeom prst="rect">
            <a:avLst/>
          </a:prstGeom>
          <a:noFill/>
        </p:spPr>
        <p:txBody>
          <a:bodyPr wrap="square" rtlCol="0">
            <a:spAutoFit/>
          </a:bodyPr>
          <a:lstStyle/>
          <a:p>
            <a:pPr marR="546735" lvl="0">
              <a:lnSpc>
                <a:spcPct val="115000"/>
              </a:lnSpc>
              <a:spcAft>
                <a:spcPts val="0"/>
              </a:spcAft>
            </a:pPr>
            <a:r>
              <a:rPr lang="en-IN" sz="1800" dirty="0">
                <a:solidFill>
                  <a:schemeClr val="bg1"/>
                </a:solidFill>
                <a:effectLst/>
                <a:latin typeface="Times New Roman" panose="02020603050405020304" pitchFamily="18" charset="0"/>
                <a:ea typeface="Arial MT"/>
                <a:cs typeface="Arial MT"/>
              </a:rPr>
              <a:t>1.  </a:t>
            </a:r>
            <a:r>
              <a:rPr lang="en-IN" sz="1800" b="1" dirty="0">
                <a:solidFill>
                  <a:schemeClr val="bg1"/>
                </a:solidFill>
                <a:effectLst/>
                <a:latin typeface="Times New Roman" panose="02020603050405020304" pitchFamily="18" charset="0"/>
                <a:ea typeface="Arial MT"/>
                <a:cs typeface="Arial MT"/>
              </a:rPr>
              <a:t>Introduction to Data Science</a:t>
            </a:r>
            <a:r>
              <a:rPr lang="en-IN" sz="1800" dirty="0">
                <a:solidFill>
                  <a:schemeClr val="bg1"/>
                </a:solidFill>
                <a:effectLst/>
                <a:latin typeface="Times New Roman" panose="02020603050405020304" pitchFamily="18" charset="0"/>
                <a:ea typeface="Arial MT"/>
                <a:cs typeface="Arial MT"/>
              </a:rPr>
              <a:t>: This module introduced the foundational concepts of data science, including the data lifecycle, types of data, and the importance of data-driven decision-making across various industries.</a:t>
            </a:r>
            <a:endParaRPr lang="en-IN" dirty="0">
              <a:solidFill>
                <a:schemeClr val="bg1"/>
              </a:solidFill>
              <a:latin typeface="Arial MT"/>
              <a:ea typeface="Arial MT"/>
              <a:cs typeface="Arial MT"/>
            </a:endParaRPr>
          </a:p>
          <a:p>
            <a:pPr marL="342900" marR="546735" lvl="0" indent="-342900">
              <a:lnSpc>
                <a:spcPct val="115000"/>
              </a:lnSpc>
              <a:spcAft>
                <a:spcPts val="0"/>
              </a:spcAft>
              <a:buFont typeface="+mj-lt"/>
              <a:buAutoNum type="arabicPeriod"/>
            </a:pPr>
            <a:endParaRPr lang="en-IN" sz="1800" dirty="0">
              <a:solidFill>
                <a:schemeClr val="bg1"/>
              </a:solidFill>
              <a:effectLst/>
              <a:latin typeface="Arial MT"/>
              <a:ea typeface="Arial MT"/>
              <a:cs typeface="Arial MT"/>
            </a:endParaRPr>
          </a:p>
          <a:p>
            <a:pPr marR="546735" lvl="0">
              <a:lnSpc>
                <a:spcPct val="115000"/>
              </a:lnSpc>
              <a:spcAft>
                <a:spcPts val="0"/>
              </a:spcAft>
            </a:pPr>
            <a:r>
              <a:rPr lang="en-IN" sz="1800" dirty="0">
                <a:solidFill>
                  <a:schemeClr val="bg1"/>
                </a:solidFill>
                <a:effectLst/>
                <a:latin typeface="Times New Roman" panose="02020603050405020304" pitchFamily="18" charset="0"/>
                <a:ea typeface="Arial MT"/>
                <a:cs typeface="Arial MT"/>
              </a:rPr>
              <a:t>2.  </a:t>
            </a:r>
            <a:r>
              <a:rPr lang="en-IN" sz="1800" b="1" dirty="0">
                <a:solidFill>
                  <a:schemeClr val="bg1"/>
                </a:solidFill>
                <a:effectLst/>
                <a:latin typeface="Times New Roman" panose="02020603050405020304" pitchFamily="18" charset="0"/>
                <a:ea typeface="Arial MT"/>
                <a:cs typeface="Arial MT"/>
              </a:rPr>
              <a:t>Python for Data Science</a:t>
            </a:r>
            <a:r>
              <a:rPr lang="en-IN" sz="1800" dirty="0">
                <a:solidFill>
                  <a:schemeClr val="bg1"/>
                </a:solidFill>
                <a:effectLst/>
                <a:latin typeface="Times New Roman" panose="02020603050405020304" pitchFamily="18" charset="0"/>
                <a:ea typeface="Arial MT"/>
                <a:cs typeface="Arial MT"/>
              </a:rPr>
              <a:t>: In this module, the focus was on Python, the primary programming language used for data science. Topics covered included data manipulation, data cleaning, and the use of essential libraries such as NumPy and Pandas.</a:t>
            </a:r>
            <a:endParaRPr lang="en-IN" sz="1800" dirty="0">
              <a:solidFill>
                <a:schemeClr val="bg1"/>
              </a:solidFill>
              <a:effectLst/>
              <a:latin typeface="Arial MT"/>
              <a:ea typeface="Arial MT"/>
              <a:cs typeface="Arial MT"/>
            </a:endParaRPr>
          </a:p>
        </p:txBody>
      </p:sp>
      <p:sp>
        <p:nvSpPr>
          <p:cNvPr id="8" name="TextBox 7">
            <a:extLst>
              <a:ext uri="{FF2B5EF4-FFF2-40B4-BE49-F238E27FC236}">
                <a16:creationId xmlns:a16="http://schemas.microsoft.com/office/drawing/2014/main" id="{8440EF58-75BA-B46C-0BA3-9D07DBADC27D}"/>
              </a:ext>
            </a:extLst>
          </p:cNvPr>
          <p:cNvSpPr txBox="1"/>
          <p:nvPr/>
        </p:nvSpPr>
        <p:spPr>
          <a:xfrm>
            <a:off x="6368144" y="1709055"/>
            <a:ext cx="5268685" cy="4510466"/>
          </a:xfrm>
          <a:prstGeom prst="rect">
            <a:avLst/>
          </a:prstGeom>
          <a:noFill/>
        </p:spPr>
        <p:txBody>
          <a:bodyPr wrap="square" rtlCol="0">
            <a:spAutoFit/>
          </a:bodyPr>
          <a:lstStyle/>
          <a:p>
            <a:pPr marR="546735" lvl="0">
              <a:lnSpc>
                <a:spcPct val="115000"/>
              </a:lnSpc>
              <a:spcAft>
                <a:spcPts val="0"/>
              </a:spcAft>
            </a:pPr>
            <a:r>
              <a:rPr lang="en-IN" sz="1800" dirty="0">
                <a:solidFill>
                  <a:schemeClr val="bg1"/>
                </a:solidFill>
                <a:effectLst/>
                <a:latin typeface="Times New Roman" panose="02020603050405020304" pitchFamily="18" charset="0"/>
                <a:ea typeface="Arial MT"/>
                <a:cs typeface="Arial MT"/>
              </a:rPr>
              <a:t>3.  </a:t>
            </a:r>
            <a:r>
              <a:rPr lang="en-IN" sz="1800" b="1" dirty="0">
                <a:solidFill>
                  <a:schemeClr val="bg1"/>
                </a:solidFill>
                <a:effectLst/>
                <a:latin typeface="Times New Roman" panose="02020603050405020304" pitchFamily="18" charset="0"/>
                <a:ea typeface="Arial MT"/>
                <a:cs typeface="Arial MT"/>
              </a:rPr>
              <a:t>Understanding Statistics for Data Science</a:t>
            </a:r>
            <a:r>
              <a:rPr lang="en-IN" sz="1800" dirty="0">
                <a:solidFill>
                  <a:schemeClr val="bg1"/>
                </a:solidFill>
                <a:effectLst/>
                <a:latin typeface="Times New Roman" panose="02020603050405020304" pitchFamily="18" charset="0"/>
                <a:ea typeface="Arial MT"/>
                <a:cs typeface="Arial MT"/>
              </a:rPr>
              <a:t>:      This module provided a deep understanding of statistical concepts, which are fundamental to data analysis. Topics such as probability distributions, hypothesis testing, and regression analysis were explored.</a:t>
            </a:r>
          </a:p>
          <a:p>
            <a:pPr marL="342900" marR="546735" lvl="0" indent="-342900">
              <a:lnSpc>
                <a:spcPct val="115000"/>
              </a:lnSpc>
              <a:spcAft>
                <a:spcPts val="0"/>
              </a:spcAft>
              <a:buFont typeface="+mj-lt"/>
              <a:buAutoNum type="arabicPeriod"/>
            </a:pPr>
            <a:endParaRPr lang="en-IN" sz="1800" dirty="0">
              <a:solidFill>
                <a:schemeClr val="bg1"/>
              </a:solidFill>
              <a:effectLst/>
              <a:latin typeface="Arial MT"/>
              <a:ea typeface="Arial MT"/>
              <a:cs typeface="Arial MT"/>
            </a:endParaRPr>
          </a:p>
          <a:p>
            <a:pPr marR="546735" lvl="0">
              <a:lnSpc>
                <a:spcPct val="115000"/>
              </a:lnSpc>
              <a:spcAft>
                <a:spcPts val="0"/>
              </a:spcAft>
            </a:pPr>
            <a:r>
              <a:rPr lang="en-IN" sz="1800" dirty="0">
                <a:solidFill>
                  <a:schemeClr val="bg1"/>
                </a:solidFill>
                <a:effectLst/>
                <a:latin typeface="Times New Roman" panose="02020603050405020304" pitchFamily="18" charset="0"/>
                <a:ea typeface="Arial MT"/>
                <a:cs typeface="Arial MT"/>
              </a:rPr>
              <a:t>4.  </a:t>
            </a:r>
            <a:r>
              <a:rPr lang="en-IN" sz="1800" b="1" dirty="0">
                <a:solidFill>
                  <a:schemeClr val="bg1"/>
                </a:solidFill>
                <a:effectLst/>
                <a:latin typeface="Times New Roman" panose="02020603050405020304" pitchFamily="18" charset="0"/>
                <a:ea typeface="Arial MT"/>
                <a:cs typeface="Arial MT"/>
              </a:rPr>
              <a:t>Predictive </a:t>
            </a:r>
            <a:r>
              <a:rPr lang="en-IN" sz="1800" b="1" dirty="0" err="1">
                <a:solidFill>
                  <a:schemeClr val="bg1"/>
                </a:solidFill>
                <a:effectLst/>
                <a:latin typeface="Times New Roman" panose="02020603050405020304" pitchFamily="18" charset="0"/>
                <a:ea typeface="Arial MT"/>
                <a:cs typeface="Arial MT"/>
              </a:rPr>
              <a:t>Modeling</a:t>
            </a:r>
            <a:r>
              <a:rPr lang="en-IN" sz="1800" b="1" dirty="0">
                <a:solidFill>
                  <a:schemeClr val="bg1"/>
                </a:solidFill>
                <a:effectLst/>
                <a:latin typeface="Times New Roman" panose="02020603050405020304" pitchFamily="18" charset="0"/>
                <a:ea typeface="Arial MT"/>
                <a:cs typeface="Arial MT"/>
              </a:rPr>
              <a:t> and Basics of Machine Learning</a:t>
            </a:r>
            <a:r>
              <a:rPr lang="en-IN" sz="1800" dirty="0">
                <a:solidFill>
                  <a:schemeClr val="bg1"/>
                </a:solidFill>
                <a:effectLst/>
                <a:latin typeface="Times New Roman" panose="02020603050405020304" pitchFamily="18" charset="0"/>
                <a:ea typeface="Arial MT"/>
                <a:cs typeface="Arial MT"/>
              </a:rPr>
              <a:t>: This was the cornerstone of the training, focusing on building predictive models. Key algorithms like linear regression, decision trees, and k-nearest </a:t>
            </a:r>
            <a:r>
              <a:rPr lang="en-IN" sz="1800" dirty="0" err="1">
                <a:solidFill>
                  <a:schemeClr val="bg1"/>
                </a:solidFill>
                <a:effectLst/>
                <a:latin typeface="Times New Roman" panose="02020603050405020304" pitchFamily="18" charset="0"/>
                <a:ea typeface="Arial MT"/>
                <a:cs typeface="Arial MT"/>
              </a:rPr>
              <a:t>neighbors</a:t>
            </a:r>
            <a:r>
              <a:rPr lang="en-IN" sz="1800" dirty="0">
                <a:solidFill>
                  <a:schemeClr val="bg1"/>
                </a:solidFill>
                <a:effectLst/>
                <a:latin typeface="Times New Roman" panose="02020603050405020304" pitchFamily="18" charset="0"/>
                <a:ea typeface="Arial MT"/>
                <a:cs typeface="Arial MT"/>
              </a:rPr>
              <a:t> were covered, along with an introduction to neural networks.</a:t>
            </a:r>
            <a:endParaRPr lang="en-IN" sz="1800" dirty="0">
              <a:solidFill>
                <a:schemeClr val="bg1"/>
              </a:solidFill>
              <a:effectLst/>
              <a:latin typeface="Arial MT"/>
              <a:ea typeface="Arial MT"/>
              <a:cs typeface="Arial MT"/>
            </a:endParaRPr>
          </a:p>
          <a:p>
            <a:endParaRPr lang="en-IN" dirty="0"/>
          </a:p>
        </p:txBody>
      </p:sp>
    </p:spTree>
    <p:extLst>
      <p:ext uri="{BB962C8B-B14F-4D97-AF65-F5344CB8AC3E}">
        <p14:creationId xmlns:p14="http://schemas.microsoft.com/office/powerpoint/2010/main" val="41866622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A4A7895-3FBB-9134-6284-4A5950F5B493}"/>
              </a:ext>
            </a:extLst>
          </p:cNvPr>
          <p:cNvSpPr>
            <a:spLocks noGrp="1"/>
          </p:cNvSpPr>
          <p:nvPr>
            <p:ph type="ctrTitle"/>
          </p:nvPr>
        </p:nvSpPr>
        <p:spPr>
          <a:xfrm>
            <a:off x="5845629" y="576471"/>
            <a:ext cx="5704114" cy="1339416"/>
          </a:xfrm>
        </p:spPr>
        <p:txBody>
          <a:bodyPr/>
          <a:lstStyle/>
          <a:p>
            <a:pPr algn="ctr"/>
            <a:r>
              <a:rPr lang="en-US" b="1" dirty="0">
                <a:latin typeface="Times New Roman" panose="02020603050405020304" pitchFamily="18" charset="0"/>
                <a:cs typeface="Times New Roman" panose="02020603050405020304" pitchFamily="18" charset="0"/>
              </a:rPr>
              <a:t>Project Objective</a:t>
            </a:r>
            <a:br>
              <a:rPr lang="en-US" b="1" dirty="0"/>
            </a:br>
            <a:endParaRPr lang="en-US" dirty="0"/>
          </a:p>
        </p:txBody>
      </p:sp>
      <p:sp>
        <p:nvSpPr>
          <p:cNvPr id="9" name="Content Placeholder 8">
            <a:extLst>
              <a:ext uri="{FF2B5EF4-FFF2-40B4-BE49-F238E27FC236}">
                <a16:creationId xmlns:a16="http://schemas.microsoft.com/office/drawing/2014/main" id="{49F04B66-5C68-5FD6-773C-3016CF0ACCE4}"/>
              </a:ext>
            </a:extLst>
          </p:cNvPr>
          <p:cNvSpPr>
            <a:spLocks noGrp="1"/>
          </p:cNvSpPr>
          <p:nvPr>
            <p:ph sz="quarter" idx="11"/>
          </p:nvPr>
        </p:nvSpPr>
        <p:spPr>
          <a:xfrm>
            <a:off x="6096000" y="1915886"/>
            <a:ext cx="5159829" cy="3646713"/>
          </a:xfrm>
        </p:spPr>
        <p:txBody>
          <a:bodyPr>
            <a:normAutofit/>
          </a:bodyPr>
          <a:lstStyle/>
          <a:p>
            <a:pPr algn="l">
              <a:buFont typeface="Arial" panose="020B0604020202020204" pitchFamily="34" charset="0"/>
              <a:buChar char="•"/>
            </a:pPr>
            <a:r>
              <a:rPr lang="en-US" sz="2000" b="1" dirty="0"/>
              <a:t> </a:t>
            </a:r>
            <a:r>
              <a:rPr lang="en-US" sz="2000" b="1" dirty="0">
                <a:latin typeface="Times New Roman" panose="02020603050405020304" pitchFamily="18" charset="0"/>
                <a:cs typeface="Times New Roman" panose="02020603050405020304" pitchFamily="18" charset="0"/>
              </a:rPr>
              <a:t>Predicting stock market prices</a:t>
            </a:r>
            <a:r>
              <a:rPr lang="en-US" sz="2000" dirty="0">
                <a:latin typeface="Times New Roman" panose="02020603050405020304" pitchFamily="18" charset="0"/>
                <a:cs typeface="Times New Roman" panose="02020603050405020304" pitchFamily="18" charset="0"/>
              </a:rPr>
              <a:t> using historical data and providing visualizations for analysis.</a:t>
            </a:r>
          </a:p>
          <a:p>
            <a:pPr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Dataset</a:t>
            </a:r>
            <a:r>
              <a:rPr lang="en-US" sz="2000" dirty="0">
                <a:latin typeface="Times New Roman" panose="02020603050405020304" pitchFamily="18" charset="0"/>
                <a:cs typeface="Times New Roman" panose="02020603050405020304" pitchFamily="18" charset="0"/>
              </a:rPr>
              <a:t>: Apple Inc. (AAPL) stock data from 2010-2019.</a:t>
            </a:r>
          </a:p>
          <a:p>
            <a:pPr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Developing an LSTM neural network</a:t>
            </a:r>
            <a:r>
              <a:rPr lang="en-US" sz="2000" dirty="0">
                <a:latin typeface="Times New Roman" panose="02020603050405020304" pitchFamily="18" charset="0"/>
                <a:cs typeface="Times New Roman" panose="02020603050405020304" pitchFamily="18" charset="0"/>
              </a:rPr>
              <a:t> for time-series forecasting.</a:t>
            </a:r>
          </a:p>
          <a:p>
            <a:pPr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Building an interactive web app</a:t>
            </a:r>
            <a:r>
              <a:rPr lang="en-US" sz="2000" dirty="0">
                <a:latin typeface="Times New Roman" panose="02020603050405020304" pitchFamily="18" charset="0"/>
                <a:cs typeface="Times New Roman" panose="02020603050405020304" pitchFamily="18" charset="0"/>
              </a:rPr>
              <a:t> using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for real-time stock analysis and prediction.</a:t>
            </a:r>
          </a:p>
          <a:p>
            <a:pPr algn="l"/>
            <a:endParaRPr lang="en-US" dirty="0"/>
          </a:p>
        </p:txBody>
      </p:sp>
      <p:sp>
        <p:nvSpPr>
          <p:cNvPr id="17" name="Slide Number Placeholder 16">
            <a:extLst>
              <a:ext uri="{FF2B5EF4-FFF2-40B4-BE49-F238E27FC236}">
                <a16:creationId xmlns:a16="http://schemas.microsoft.com/office/drawing/2014/main" id="{E1F36102-91E3-B5B6-05D2-563D2642C9AC}"/>
              </a:ext>
            </a:extLst>
          </p:cNvPr>
          <p:cNvSpPr>
            <a:spLocks noGrp="1"/>
          </p:cNvSpPr>
          <p:nvPr>
            <p:ph type="sldNum" sz="quarter" idx="14"/>
          </p:nvPr>
        </p:nvSpPr>
        <p:spPr>
          <a:xfrm>
            <a:off x="10922000" y="6145255"/>
            <a:ext cx="845114" cy="365125"/>
          </a:xfrm>
        </p:spPr>
        <p:txBody>
          <a:bodyPr/>
          <a:lstStyle/>
          <a:p>
            <a:fld id="{294A09A9-5501-47C1-A89A-A340965A2BE2}" type="slidenum">
              <a:rPr lang="en-US" smtClean="0"/>
              <a:pPr/>
              <a:t>5</a:t>
            </a:fld>
            <a:endParaRPr lang="en-US" dirty="0"/>
          </a:p>
        </p:txBody>
      </p:sp>
      <p:pic>
        <p:nvPicPr>
          <p:cNvPr id="16" name="Picture 15">
            <a:extLst>
              <a:ext uri="{FF2B5EF4-FFF2-40B4-BE49-F238E27FC236}">
                <a16:creationId xmlns:a16="http://schemas.microsoft.com/office/drawing/2014/main" id="{65F95ADD-9598-9C9D-4A88-A1EE8211148D}"/>
              </a:ext>
            </a:extLst>
          </p:cNvPr>
          <p:cNvPicPr>
            <a:picLocks noChangeAspect="1"/>
          </p:cNvPicPr>
          <p:nvPr/>
        </p:nvPicPr>
        <p:blipFill>
          <a:blip r:embed="rId2"/>
          <a:stretch>
            <a:fillRect/>
          </a:stretch>
        </p:blipFill>
        <p:spPr>
          <a:xfrm>
            <a:off x="878003" y="3429000"/>
            <a:ext cx="4528457" cy="3018971"/>
          </a:xfrm>
          <a:prstGeom prst="rect">
            <a:avLst/>
          </a:prstGeom>
        </p:spPr>
      </p:pic>
      <p:pic>
        <p:nvPicPr>
          <p:cNvPr id="18" name="Picture 17">
            <a:extLst>
              <a:ext uri="{FF2B5EF4-FFF2-40B4-BE49-F238E27FC236}">
                <a16:creationId xmlns:a16="http://schemas.microsoft.com/office/drawing/2014/main" id="{2619D9BA-8E1B-46D9-1218-03B109F11543}"/>
              </a:ext>
            </a:extLst>
          </p:cNvPr>
          <p:cNvPicPr>
            <a:picLocks noChangeAspect="1"/>
          </p:cNvPicPr>
          <p:nvPr/>
        </p:nvPicPr>
        <p:blipFill>
          <a:blip r:embed="rId3"/>
          <a:stretch>
            <a:fillRect/>
          </a:stretch>
        </p:blipFill>
        <p:spPr>
          <a:xfrm>
            <a:off x="874263" y="410029"/>
            <a:ext cx="4528457" cy="2752592"/>
          </a:xfrm>
          <a:prstGeom prst="rect">
            <a:avLst/>
          </a:prstGeom>
        </p:spPr>
      </p:pic>
    </p:spTree>
    <p:extLst>
      <p:ext uri="{BB962C8B-B14F-4D97-AF65-F5344CB8AC3E}">
        <p14:creationId xmlns:p14="http://schemas.microsoft.com/office/powerpoint/2010/main" val="240340396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BABE26-9746-E86C-1863-8087C3AA2F80}"/>
              </a:ext>
            </a:extLst>
          </p:cNvPr>
          <p:cNvSpPr/>
          <p:nvPr/>
        </p:nvSpPr>
        <p:spPr>
          <a:xfrm>
            <a:off x="6596743" y="1524000"/>
            <a:ext cx="5029200" cy="471351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3" name="Title 2">
            <a:extLst>
              <a:ext uri="{FF2B5EF4-FFF2-40B4-BE49-F238E27FC236}">
                <a16:creationId xmlns:a16="http://schemas.microsoft.com/office/drawing/2014/main" id="{17AF5A1F-B233-C75A-B7DC-066E53119DA2}"/>
              </a:ext>
            </a:extLst>
          </p:cNvPr>
          <p:cNvSpPr>
            <a:spLocks noGrp="1"/>
          </p:cNvSpPr>
          <p:nvPr>
            <p:ph type="ctrTitle"/>
          </p:nvPr>
        </p:nvSpPr>
        <p:spPr>
          <a:xfrm>
            <a:off x="7020675" y="480627"/>
            <a:ext cx="4505155" cy="890973"/>
          </a:xfrm>
        </p:spPr>
        <p:txBody>
          <a:bodyPr/>
          <a:lstStyle/>
          <a:p>
            <a:r>
              <a:rPr lang="en-US" b="1" dirty="0">
                <a:latin typeface="Times New Roman" panose="02020603050405020304" pitchFamily="18" charset="0"/>
                <a:cs typeface="Times New Roman" panose="02020603050405020304" pitchFamily="18" charset="0"/>
              </a:rPr>
              <a:t>Methodology</a:t>
            </a:r>
          </a:p>
        </p:txBody>
      </p:sp>
      <p:sp>
        <p:nvSpPr>
          <p:cNvPr id="7" name="Slide Number Placeholder 6">
            <a:extLst>
              <a:ext uri="{FF2B5EF4-FFF2-40B4-BE49-F238E27FC236}">
                <a16:creationId xmlns:a16="http://schemas.microsoft.com/office/drawing/2014/main" id="{62D0F67C-5190-34BB-E17A-17334527211D}"/>
              </a:ext>
            </a:extLst>
          </p:cNvPr>
          <p:cNvSpPr>
            <a:spLocks noGrp="1"/>
          </p:cNvSpPr>
          <p:nvPr>
            <p:ph type="sldNum" sz="quarter" idx="14"/>
          </p:nvPr>
        </p:nvSpPr>
        <p:spPr>
          <a:xfrm>
            <a:off x="10922000" y="6145255"/>
            <a:ext cx="845114" cy="365125"/>
          </a:xfrm>
        </p:spPr>
        <p:txBody>
          <a:bodyPr/>
          <a:lstStyle/>
          <a:p>
            <a:fld id="{294A09A9-5501-47C1-A89A-A340965A2BE2}" type="slidenum">
              <a:rPr lang="en-US" smtClean="0"/>
              <a:pPr/>
              <a:t>6</a:t>
            </a:fld>
            <a:endParaRPr lang="en-US" dirty="0"/>
          </a:p>
        </p:txBody>
      </p:sp>
      <p:sp>
        <p:nvSpPr>
          <p:cNvPr id="10" name="Rectangle 2">
            <a:extLst>
              <a:ext uri="{FF2B5EF4-FFF2-40B4-BE49-F238E27FC236}">
                <a16:creationId xmlns:a16="http://schemas.microsoft.com/office/drawing/2014/main" id="{4C8878C4-D127-4646-302A-16707BF8BA4B}"/>
              </a:ext>
            </a:extLst>
          </p:cNvPr>
          <p:cNvSpPr>
            <a:spLocks noGrp="1" noChangeArrowheads="1"/>
          </p:cNvSpPr>
          <p:nvPr>
            <p:ph sz="quarter" idx="11"/>
          </p:nvPr>
        </p:nvSpPr>
        <p:spPr bwMode="auto">
          <a:xfrm>
            <a:off x="6596743" y="2043394"/>
            <a:ext cx="492908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Data Collection</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Stock prices were obtained from Yahoo Finance using the </a:t>
            </a:r>
            <a:r>
              <a:rPr kumimoji="0" lang="en-US" altLang="en-US" sz="1800" b="0" i="0" u="none" strike="noStrike" cap="none" normalizeH="0" baseline="0" dirty="0" err="1">
                <a:ln>
                  <a:noFill/>
                </a:ln>
                <a:effectLst/>
                <a:latin typeface="Times New Roman" panose="02020603050405020304" pitchFamily="18" charset="0"/>
                <a:cs typeface="Times New Roman" panose="02020603050405020304" pitchFamily="18" charset="0"/>
              </a:rPr>
              <a:t>yfinance</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library.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Data Preprocessing</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Min-Max scaling, sequence generation, and splitting into training/testing sets.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Model</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LSTM architecture with layers of LSTM units, Dropout, and Dense layers for stock price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Frameworks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TensorFlow, </a:t>
            </a:r>
            <a:r>
              <a:rPr kumimoji="0" lang="en-US" altLang="en-US" sz="1800" b="0" i="0" u="none" strike="noStrike" cap="none" normalizeH="0" baseline="0" dirty="0" err="1">
                <a:ln>
                  <a:noFill/>
                </a:ln>
                <a:effectLst/>
                <a:latin typeface="Times New Roman" panose="02020603050405020304" pitchFamily="18" charset="0"/>
                <a:cs typeface="Times New Roman" panose="02020603050405020304" pitchFamily="18" charset="0"/>
              </a:rPr>
              <a:t>Keras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effectLst/>
                <a:latin typeface="Times New Roman" panose="02020603050405020304" pitchFamily="18" charset="0"/>
                <a:cs typeface="Times New Roman" panose="02020603050405020304" pitchFamily="18" charset="0"/>
              </a:rPr>
              <a:t>Streamlit</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for web app, </a:t>
            </a:r>
            <a:r>
              <a:rPr kumimoji="0" lang="en-US" altLang="en-US" sz="1800" b="0" i="0" u="none" strike="noStrike" cap="none" normalizeH="0" baseline="0" dirty="0" err="1">
                <a:ln>
                  <a:noFill/>
                </a:ln>
                <a:effectLst/>
                <a:latin typeface="Times New Roman" panose="02020603050405020304" pitchFamily="18" charset="0"/>
                <a:cs typeface="Times New Roman" panose="02020603050405020304" pitchFamily="18" charset="0"/>
              </a:rPr>
              <a:t>yfinance</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for data fetching.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p:txBody>
      </p:sp>
      <p:pic>
        <p:nvPicPr>
          <p:cNvPr id="18" name="Picture 17">
            <a:extLst>
              <a:ext uri="{FF2B5EF4-FFF2-40B4-BE49-F238E27FC236}">
                <a16:creationId xmlns:a16="http://schemas.microsoft.com/office/drawing/2014/main" id="{B7037F99-C23D-82E7-AB02-376F51DF3E56}"/>
              </a:ext>
            </a:extLst>
          </p:cNvPr>
          <p:cNvPicPr>
            <a:picLocks noChangeAspect="1"/>
          </p:cNvPicPr>
          <p:nvPr/>
        </p:nvPicPr>
        <p:blipFill>
          <a:blip r:embed="rId2"/>
          <a:stretch>
            <a:fillRect/>
          </a:stretch>
        </p:blipFill>
        <p:spPr>
          <a:xfrm>
            <a:off x="1403235" y="1773691"/>
            <a:ext cx="4573023" cy="3897767"/>
          </a:xfrm>
          <a:prstGeom prst="rect">
            <a:avLst/>
          </a:prstGeom>
        </p:spPr>
      </p:pic>
    </p:spTree>
    <p:extLst>
      <p:ext uri="{BB962C8B-B14F-4D97-AF65-F5344CB8AC3E}">
        <p14:creationId xmlns:p14="http://schemas.microsoft.com/office/powerpoint/2010/main" val="330662406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2A70D3-B858-7C5F-E387-B31621F4349A}"/>
              </a:ext>
            </a:extLst>
          </p:cNvPr>
          <p:cNvSpPr/>
          <p:nvPr/>
        </p:nvSpPr>
        <p:spPr>
          <a:xfrm>
            <a:off x="5192486" y="601462"/>
            <a:ext cx="6455229" cy="2827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D8D41D3D-862C-A507-7373-C8512CBD69D3}"/>
              </a:ext>
            </a:extLst>
          </p:cNvPr>
          <p:cNvSpPr/>
          <p:nvPr/>
        </p:nvSpPr>
        <p:spPr>
          <a:xfrm>
            <a:off x="1371601" y="3058885"/>
            <a:ext cx="1404256" cy="4680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1518746" y="601462"/>
            <a:ext cx="3425010" cy="200735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Data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Flow Diagram</a:t>
            </a: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7</a:t>
            </a:fld>
            <a:endParaRPr lang="en-US" dirty="0"/>
          </a:p>
        </p:txBody>
      </p:sp>
      <p:pic>
        <p:nvPicPr>
          <p:cNvPr id="5" name="Picture 4">
            <a:extLst>
              <a:ext uri="{FF2B5EF4-FFF2-40B4-BE49-F238E27FC236}">
                <a16:creationId xmlns:a16="http://schemas.microsoft.com/office/drawing/2014/main" id="{2FB26F91-0E51-BB33-CEF6-FF619CFF26F7}"/>
              </a:ext>
            </a:extLst>
          </p:cNvPr>
          <p:cNvPicPr>
            <a:picLocks noChangeAspect="1"/>
          </p:cNvPicPr>
          <p:nvPr/>
        </p:nvPicPr>
        <p:blipFill>
          <a:blip r:embed="rId2"/>
          <a:stretch>
            <a:fillRect/>
          </a:stretch>
        </p:blipFill>
        <p:spPr>
          <a:xfrm>
            <a:off x="5317363" y="797072"/>
            <a:ext cx="6178773" cy="2436318"/>
          </a:xfrm>
          <a:prstGeom prst="rect">
            <a:avLst/>
          </a:prstGeom>
        </p:spPr>
      </p:pic>
      <p:sp>
        <p:nvSpPr>
          <p:cNvPr id="9" name="TextBox 8">
            <a:extLst>
              <a:ext uri="{FF2B5EF4-FFF2-40B4-BE49-F238E27FC236}">
                <a16:creationId xmlns:a16="http://schemas.microsoft.com/office/drawing/2014/main" id="{72815FBC-0AEB-32E8-98BA-580C56C374C4}"/>
              </a:ext>
            </a:extLst>
          </p:cNvPr>
          <p:cNvSpPr txBox="1"/>
          <p:nvPr/>
        </p:nvSpPr>
        <p:spPr>
          <a:xfrm>
            <a:off x="1068443" y="3058885"/>
            <a:ext cx="10276114" cy="3693319"/>
          </a:xfrm>
          <a:prstGeom prst="rect">
            <a:avLst/>
          </a:prstGeom>
          <a:noFill/>
        </p:spPr>
        <p:txBody>
          <a:bodyPr wrap="square" rtlCol="0">
            <a:spAutoFit/>
          </a:bodyPr>
          <a:lstStyle/>
          <a:p>
            <a:pPr marR="539750" indent="228600">
              <a:lnSpc>
                <a:spcPct val="150000"/>
              </a:lnSpc>
            </a:pPr>
            <a:r>
              <a:rPr lang="en-IN" sz="1800" b="1" dirty="0">
                <a:effectLst/>
                <a:latin typeface="Times New Roman" panose="02020603050405020304" pitchFamily="18" charset="0"/>
                <a:ea typeface="Times New Roman" panose="02020603050405020304" pitchFamily="18" charset="0"/>
              </a:rPr>
              <a:t>DATA FLOW</a:t>
            </a:r>
          </a:p>
          <a:p>
            <a:pPr marL="342900" marR="539750" lvl="0" indent="-342900" algn="just">
              <a:lnSpc>
                <a:spcPct val="150000"/>
              </a:lnSpc>
              <a:buFont typeface="Wingdings" panose="05000000000000000000" pitchFamily="2" charset="2"/>
              <a:buChar char="Ø"/>
              <a:tabLst>
                <a:tab pos="457200" algn="l"/>
              </a:tabLst>
            </a:pPr>
            <a:r>
              <a:rPr lang="en-IN" sz="1800" b="1" dirty="0">
                <a:solidFill>
                  <a:schemeClr val="bg1"/>
                </a:solidFill>
                <a:effectLst/>
                <a:latin typeface="Times New Roman" panose="02020603050405020304" pitchFamily="18" charset="0"/>
                <a:ea typeface="Times New Roman" panose="02020603050405020304" pitchFamily="18" charset="0"/>
              </a:rPr>
              <a:t>Data Input</a:t>
            </a:r>
            <a:r>
              <a:rPr lang="en-IN" sz="1800" dirty="0">
                <a:solidFill>
                  <a:schemeClr val="bg1"/>
                </a:solidFill>
                <a:effectLst/>
                <a:latin typeface="Times New Roman" panose="02020603050405020304" pitchFamily="18" charset="0"/>
                <a:ea typeface="Times New Roman" panose="02020603050405020304" pitchFamily="18" charset="0"/>
              </a:rPr>
              <a:t>: The application accepts stock ticker inputs from users, along with the date range and the number of days for future prediction.</a:t>
            </a:r>
          </a:p>
          <a:p>
            <a:pPr marL="342900" marR="539750" lvl="0" indent="-342900" algn="just">
              <a:lnSpc>
                <a:spcPct val="150000"/>
              </a:lnSpc>
              <a:buFont typeface="Wingdings" panose="05000000000000000000" pitchFamily="2" charset="2"/>
              <a:buChar char="Ø"/>
              <a:tabLst>
                <a:tab pos="457200" algn="l"/>
              </a:tabLst>
            </a:pPr>
            <a:r>
              <a:rPr lang="en-IN" sz="1800" b="1" dirty="0">
                <a:solidFill>
                  <a:schemeClr val="bg1"/>
                </a:solidFill>
                <a:effectLst/>
                <a:latin typeface="Times New Roman" panose="02020603050405020304" pitchFamily="18" charset="0"/>
                <a:ea typeface="Times New Roman" panose="02020603050405020304" pitchFamily="18" charset="0"/>
              </a:rPr>
              <a:t>Data Fetching</a:t>
            </a:r>
            <a:r>
              <a:rPr lang="en-IN" sz="1800" dirty="0">
                <a:solidFill>
                  <a:schemeClr val="bg1"/>
                </a:solidFill>
                <a:effectLst/>
                <a:latin typeface="Times New Roman" panose="02020603050405020304" pitchFamily="18" charset="0"/>
                <a:ea typeface="Times New Roman" panose="02020603050405020304" pitchFamily="18" charset="0"/>
              </a:rPr>
              <a:t>: Stock data is fetched from Yahoo Finance using </a:t>
            </a:r>
            <a:r>
              <a:rPr lang="en-IN" sz="1800" dirty="0" err="1">
                <a:solidFill>
                  <a:schemeClr val="bg1"/>
                </a:solidFill>
                <a:effectLst/>
                <a:latin typeface="Times New Roman" panose="02020603050405020304" pitchFamily="18" charset="0"/>
                <a:ea typeface="Times New Roman" panose="02020603050405020304" pitchFamily="18" charset="0"/>
              </a:rPr>
              <a:t>yfinance</a:t>
            </a:r>
            <a:r>
              <a:rPr lang="en-IN" sz="1800" dirty="0">
                <a:solidFill>
                  <a:schemeClr val="bg1"/>
                </a:solidFill>
                <a:effectLst/>
                <a:latin typeface="Times New Roman" panose="02020603050405020304" pitchFamily="18" charset="0"/>
                <a:ea typeface="Times New Roman" panose="02020603050405020304" pitchFamily="18" charset="0"/>
              </a:rPr>
              <a:t>.</a:t>
            </a:r>
          </a:p>
          <a:p>
            <a:pPr marL="342900" marR="539750" lvl="0" indent="-342900" algn="just">
              <a:lnSpc>
                <a:spcPct val="150000"/>
              </a:lnSpc>
              <a:buFont typeface="Wingdings" panose="05000000000000000000" pitchFamily="2" charset="2"/>
              <a:buChar char="Ø"/>
              <a:tabLst>
                <a:tab pos="457200" algn="l"/>
              </a:tabLst>
            </a:pPr>
            <a:r>
              <a:rPr lang="en-IN" sz="1800" b="1" dirty="0">
                <a:solidFill>
                  <a:schemeClr val="bg1"/>
                </a:solidFill>
                <a:effectLst/>
                <a:latin typeface="Times New Roman" panose="02020603050405020304" pitchFamily="18" charset="0"/>
                <a:ea typeface="Times New Roman" panose="02020603050405020304" pitchFamily="18" charset="0"/>
              </a:rPr>
              <a:t>Data Preprocessing</a:t>
            </a:r>
            <a:r>
              <a:rPr lang="en-IN" sz="1800" dirty="0">
                <a:solidFill>
                  <a:schemeClr val="bg1"/>
                </a:solidFill>
                <a:effectLst/>
                <a:latin typeface="Times New Roman" panose="02020603050405020304" pitchFamily="18" charset="0"/>
                <a:ea typeface="Times New Roman" panose="02020603050405020304" pitchFamily="18" charset="0"/>
              </a:rPr>
              <a:t>: Collected stock data is </a:t>
            </a:r>
            <a:r>
              <a:rPr lang="en-IN" sz="1800" dirty="0" err="1">
                <a:solidFill>
                  <a:schemeClr val="bg1"/>
                </a:solidFill>
                <a:effectLst/>
                <a:latin typeface="Times New Roman" panose="02020603050405020304" pitchFamily="18" charset="0"/>
                <a:ea typeface="Times New Roman" panose="02020603050405020304" pitchFamily="18" charset="0"/>
              </a:rPr>
              <a:t>preprocessed</a:t>
            </a:r>
            <a:r>
              <a:rPr lang="en-IN" sz="1800" dirty="0">
                <a:solidFill>
                  <a:schemeClr val="bg1"/>
                </a:solidFill>
                <a:effectLst/>
                <a:latin typeface="Times New Roman" panose="02020603050405020304" pitchFamily="18" charset="0"/>
                <a:ea typeface="Times New Roman" panose="02020603050405020304" pitchFamily="18" charset="0"/>
              </a:rPr>
              <a:t>, including scaling and creating sequences for the LSTM model.</a:t>
            </a:r>
          </a:p>
          <a:p>
            <a:pPr marL="342900" marR="539750" lvl="0" indent="-342900" algn="just">
              <a:lnSpc>
                <a:spcPct val="150000"/>
              </a:lnSpc>
              <a:buFont typeface="Wingdings" panose="05000000000000000000" pitchFamily="2" charset="2"/>
              <a:buChar char="Ø"/>
              <a:tabLst>
                <a:tab pos="457200" algn="l"/>
              </a:tabLst>
            </a:pPr>
            <a:r>
              <a:rPr lang="en-IN" sz="1800" b="1" dirty="0">
                <a:solidFill>
                  <a:schemeClr val="bg1"/>
                </a:solidFill>
                <a:effectLst/>
                <a:latin typeface="Times New Roman" panose="02020603050405020304" pitchFamily="18" charset="0"/>
                <a:ea typeface="Times New Roman" panose="02020603050405020304" pitchFamily="18" charset="0"/>
              </a:rPr>
              <a:t>Model Prediction</a:t>
            </a:r>
            <a:r>
              <a:rPr lang="en-IN" sz="1800" dirty="0">
                <a:solidFill>
                  <a:schemeClr val="bg1"/>
                </a:solidFill>
                <a:effectLst/>
                <a:latin typeface="Times New Roman" panose="02020603050405020304" pitchFamily="18" charset="0"/>
                <a:ea typeface="Times New Roman" panose="02020603050405020304" pitchFamily="18" charset="0"/>
              </a:rPr>
              <a:t>: The LSTM model generates predictions based on historical stock data.</a:t>
            </a:r>
          </a:p>
          <a:p>
            <a:pPr marL="342900" marR="539750" lvl="0" indent="-342900" algn="just">
              <a:lnSpc>
                <a:spcPct val="150000"/>
              </a:lnSpc>
              <a:buFont typeface="Wingdings" panose="05000000000000000000" pitchFamily="2" charset="2"/>
              <a:buChar char="Ø"/>
              <a:tabLst>
                <a:tab pos="457200" algn="l"/>
              </a:tabLst>
            </a:pPr>
            <a:r>
              <a:rPr lang="en-IN" sz="1800" b="1" dirty="0">
                <a:solidFill>
                  <a:schemeClr val="bg1"/>
                </a:solidFill>
                <a:effectLst/>
                <a:latin typeface="Times New Roman" panose="02020603050405020304" pitchFamily="18" charset="0"/>
                <a:ea typeface="Times New Roman" panose="02020603050405020304" pitchFamily="18" charset="0"/>
              </a:rPr>
              <a:t>Data Output</a:t>
            </a:r>
            <a:r>
              <a:rPr lang="en-IN" sz="1800" dirty="0">
                <a:solidFill>
                  <a:schemeClr val="bg1"/>
                </a:solidFill>
                <a:effectLst/>
                <a:latin typeface="Times New Roman" panose="02020603050405020304" pitchFamily="18" charset="0"/>
                <a:ea typeface="Times New Roman" panose="02020603050405020304" pitchFamily="18" charset="0"/>
              </a:rPr>
              <a:t>: The predicted stock prices are displayed as visualizations in the </a:t>
            </a:r>
            <a:r>
              <a:rPr lang="en-IN" sz="1800" dirty="0" err="1">
                <a:solidFill>
                  <a:schemeClr val="bg1"/>
                </a:solidFill>
                <a:effectLst/>
                <a:latin typeface="Times New Roman" panose="02020603050405020304" pitchFamily="18" charset="0"/>
                <a:ea typeface="Times New Roman" panose="02020603050405020304" pitchFamily="18" charset="0"/>
              </a:rPr>
              <a:t>Streamlit</a:t>
            </a:r>
            <a:r>
              <a:rPr lang="en-IN" sz="1800" dirty="0">
                <a:solidFill>
                  <a:schemeClr val="bg1"/>
                </a:solidFill>
                <a:effectLst/>
                <a:latin typeface="Times New Roman" panose="02020603050405020304" pitchFamily="18" charset="0"/>
                <a:ea typeface="Times New Roman" panose="02020603050405020304" pitchFamily="18" charset="0"/>
              </a:rPr>
              <a:t> interface.</a:t>
            </a:r>
          </a:p>
          <a:p>
            <a:endParaRPr lang="en-IN" dirty="0"/>
          </a:p>
        </p:txBody>
      </p:sp>
    </p:spTree>
    <p:extLst>
      <p:ext uri="{BB962C8B-B14F-4D97-AF65-F5344CB8AC3E}">
        <p14:creationId xmlns:p14="http://schemas.microsoft.com/office/powerpoint/2010/main" val="3979446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3266E0C-D14D-BA4B-8D49-C8E7014A16F9}"/>
              </a:ext>
            </a:extLst>
          </p:cNvPr>
          <p:cNvSpPr/>
          <p:nvPr/>
        </p:nvSpPr>
        <p:spPr>
          <a:xfrm>
            <a:off x="1328057" y="478971"/>
            <a:ext cx="4093029" cy="56662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CF739A0-AB25-231D-F1BE-533B41CCCDE0}"/>
              </a:ext>
            </a:extLst>
          </p:cNvPr>
          <p:cNvSpPr>
            <a:spLocks noGrp="1"/>
          </p:cNvSpPr>
          <p:nvPr>
            <p:ph type="ctrTitle"/>
          </p:nvPr>
        </p:nvSpPr>
        <p:spPr>
          <a:xfrm>
            <a:off x="6297523" y="750316"/>
            <a:ext cx="5469591" cy="4648998"/>
          </a:xfrm>
        </p:spPr>
        <p:txBody>
          <a:bodyPr/>
          <a:lstStyle/>
          <a:p>
            <a:pPr algn="ctr"/>
            <a:r>
              <a:rPr lang="en-US" b="1" dirty="0"/>
              <a:t>Work </a:t>
            </a:r>
            <a:br>
              <a:rPr lang="en-US" b="1" dirty="0"/>
            </a:br>
            <a:r>
              <a:rPr lang="en-US" b="1" dirty="0"/>
              <a:t>Flow </a:t>
            </a:r>
            <a:br>
              <a:rPr lang="en-US" b="1" dirty="0"/>
            </a:br>
            <a:r>
              <a:rPr lang="en-US" b="1" dirty="0"/>
              <a:t>Diagram</a:t>
            </a:r>
          </a:p>
        </p:txBody>
      </p:sp>
      <p:sp>
        <p:nvSpPr>
          <p:cNvPr id="4" name="Slide Number Placeholder 3">
            <a:extLst>
              <a:ext uri="{FF2B5EF4-FFF2-40B4-BE49-F238E27FC236}">
                <a16:creationId xmlns:a16="http://schemas.microsoft.com/office/drawing/2014/main" id="{B0A62A93-B05D-F902-E82F-647AA5B8957A}"/>
              </a:ext>
            </a:extLst>
          </p:cNvPr>
          <p:cNvSpPr>
            <a:spLocks noGrp="1"/>
          </p:cNvSpPr>
          <p:nvPr>
            <p:ph type="sldNum" sz="quarter" idx="13"/>
          </p:nvPr>
        </p:nvSpPr>
        <p:spPr>
          <a:xfrm>
            <a:off x="10922000" y="6145255"/>
            <a:ext cx="845114" cy="365125"/>
          </a:xfrm>
        </p:spPr>
        <p:txBody>
          <a:bodyPr/>
          <a:lstStyle/>
          <a:p>
            <a:fld id="{294A09A9-5501-47C1-A89A-A340965A2BE2}" type="slidenum">
              <a:rPr lang="en-US" smtClean="0"/>
              <a:pPr/>
              <a:t>8</a:t>
            </a:fld>
            <a:endParaRPr lang="en-US" dirty="0"/>
          </a:p>
        </p:txBody>
      </p:sp>
      <p:pic>
        <p:nvPicPr>
          <p:cNvPr id="5" name="Picture 4">
            <a:extLst>
              <a:ext uri="{FF2B5EF4-FFF2-40B4-BE49-F238E27FC236}">
                <a16:creationId xmlns:a16="http://schemas.microsoft.com/office/drawing/2014/main" id="{54F96C88-AD5E-C4BC-856D-AE8013E4F261}"/>
              </a:ext>
            </a:extLst>
          </p:cNvPr>
          <p:cNvPicPr>
            <a:picLocks noChangeAspect="1"/>
          </p:cNvPicPr>
          <p:nvPr/>
        </p:nvPicPr>
        <p:blipFill>
          <a:blip r:embed="rId2"/>
          <a:stretch>
            <a:fillRect/>
          </a:stretch>
        </p:blipFill>
        <p:spPr>
          <a:xfrm>
            <a:off x="1429054" y="637360"/>
            <a:ext cx="3891034" cy="5349506"/>
          </a:xfrm>
          <a:prstGeom prst="rect">
            <a:avLst/>
          </a:prstGeom>
        </p:spPr>
      </p:pic>
    </p:spTree>
    <p:extLst>
      <p:ext uri="{BB962C8B-B14F-4D97-AF65-F5344CB8AC3E}">
        <p14:creationId xmlns:p14="http://schemas.microsoft.com/office/powerpoint/2010/main" val="40552958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106C3C-1E67-16F2-0A09-2608FF6D29A8}"/>
              </a:ext>
            </a:extLst>
          </p:cNvPr>
          <p:cNvSpPr/>
          <p:nvPr/>
        </p:nvSpPr>
        <p:spPr>
          <a:xfrm>
            <a:off x="5246913" y="1480457"/>
            <a:ext cx="5812973" cy="435428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3" name="Subtitle 2">
            <a:extLst>
              <a:ext uri="{FF2B5EF4-FFF2-40B4-BE49-F238E27FC236}">
                <a16:creationId xmlns:a16="http://schemas.microsoft.com/office/drawing/2014/main" id="{9E448B09-D1A9-99EA-D6C5-0ACF48033035}"/>
              </a:ext>
            </a:extLst>
          </p:cNvPr>
          <p:cNvSpPr>
            <a:spLocks noGrp="1"/>
          </p:cNvSpPr>
          <p:nvPr>
            <p:ph type="subTitle" idx="1"/>
          </p:nvPr>
        </p:nvSpPr>
        <p:spPr>
          <a:xfrm>
            <a:off x="5246913" y="892629"/>
            <a:ext cx="6074229" cy="5072742"/>
          </a:xfrm>
        </p:spPr>
        <p:txBody>
          <a:bodyPr>
            <a:normAutofit/>
          </a:bodyPr>
          <a:lstStyle/>
          <a:p>
            <a:pPr algn="l"/>
            <a:r>
              <a:rPr lang="en-US" b="1" dirty="0">
                <a:latin typeface="Times New Roman" panose="02020603050405020304" pitchFamily="18" charset="0"/>
                <a:cs typeface="Times New Roman" panose="02020603050405020304" pitchFamily="18" charset="0"/>
              </a:rPr>
              <a:t>LSTM Model Architecture</a:t>
            </a:r>
          </a:p>
          <a:p>
            <a:pPr algn="l"/>
            <a:r>
              <a:rPr lang="en-US" sz="1800" b="1" dirty="0">
                <a:latin typeface="Times New Roman" panose="02020603050405020304" pitchFamily="18" charset="0"/>
                <a:cs typeface="Times New Roman" panose="02020603050405020304" pitchFamily="18" charset="0"/>
              </a:rPr>
              <a:t>Model Features</a:t>
            </a:r>
            <a:r>
              <a:rPr lang="en-US" sz="1800" dirty="0">
                <a:latin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LSTM model architecture consists of:</a:t>
            </a:r>
          </a:p>
          <a:p>
            <a:pPr marL="342900" marR="539750" lvl="0" indent="-342900" algn="just">
              <a:lnSpc>
                <a:spcPct val="150000"/>
              </a:lnSpc>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Input Layer</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Takes in a sequence of past stock prices (50-day window).</a:t>
            </a:r>
          </a:p>
          <a:p>
            <a:pPr marL="342900" marR="539750" lvl="0" indent="-342900" algn="just">
              <a:lnSpc>
                <a:spcPct val="150000"/>
              </a:lnSpc>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LSTM Layers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The main component responsible for learning the sequential patterns in the stock prices.</a:t>
            </a:r>
          </a:p>
          <a:p>
            <a:pPr marL="342900" marR="539750" lvl="0" indent="-342900" algn="just">
              <a:lnSpc>
                <a:spcPct val="150000"/>
              </a:lnSpc>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Dropout Layers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Applied to the LSTM layers to mitigate overfitting.</a:t>
            </a:r>
          </a:p>
          <a:p>
            <a:pPr marL="342900" marR="539750" lvl="0" indent="-342900" algn="just">
              <a:lnSpc>
                <a:spcPct val="150000"/>
              </a:lnSpc>
              <a:buSzPts val="1000"/>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Output Layer</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Provides the predicted stock price.</a:t>
            </a:r>
          </a:p>
          <a:p>
            <a:pPr algn="l"/>
            <a:r>
              <a:rPr lang="en-US" sz="1800" b="1" dirty="0">
                <a:latin typeface="Times New Roman" panose="02020603050405020304" pitchFamily="18" charset="0"/>
                <a:cs typeface="Times New Roman" panose="02020603050405020304" pitchFamily="18" charset="0"/>
              </a:rPr>
              <a:t>Model Output</a:t>
            </a:r>
            <a:r>
              <a:rPr lang="en-US" sz="1800" dirty="0">
                <a:latin typeface="Times New Roman" panose="02020603050405020304" pitchFamily="18" charset="0"/>
                <a:cs typeface="Times New Roman" panose="02020603050405020304" pitchFamily="18" charset="0"/>
              </a:rPr>
              <a:t>: Predicted stock prices for future time periods based on past data.</a:t>
            </a:r>
          </a:p>
          <a:p>
            <a:endParaRPr lang="en-IN" dirty="0"/>
          </a:p>
        </p:txBody>
      </p:sp>
      <p:sp>
        <p:nvSpPr>
          <p:cNvPr id="4" name="Slide Number Placeholder 3">
            <a:extLst>
              <a:ext uri="{FF2B5EF4-FFF2-40B4-BE49-F238E27FC236}">
                <a16:creationId xmlns:a16="http://schemas.microsoft.com/office/drawing/2014/main" id="{29ABAFDB-8B31-BBD8-F2E7-324A43BB0A5D}"/>
              </a:ext>
            </a:extLst>
          </p:cNvPr>
          <p:cNvSpPr>
            <a:spLocks noGrp="1"/>
          </p:cNvSpPr>
          <p:nvPr>
            <p:ph type="sldNum" sz="quarter" idx="12"/>
          </p:nvPr>
        </p:nvSpPr>
        <p:spPr/>
        <p:txBody>
          <a:bodyPr/>
          <a:lstStyle/>
          <a:p>
            <a:fld id="{294A09A9-5501-47C1-A89A-A340965A2BE2}" type="slidenum">
              <a:rPr lang="en-US" smtClean="0"/>
              <a:pPr/>
              <a:t>9</a:t>
            </a:fld>
            <a:endParaRPr lang="en-US" dirty="0"/>
          </a:p>
        </p:txBody>
      </p:sp>
      <p:pic>
        <p:nvPicPr>
          <p:cNvPr id="6" name="Picture 5">
            <a:extLst>
              <a:ext uri="{FF2B5EF4-FFF2-40B4-BE49-F238E27FC236}">
                <a16:creationId xmlns:a16="http://schemas.microsoft.com/office/drawing/2014/main" id="{C8E714DB-D9E2-1629-AC3E-E10E3FC94CF2}"/>
              </a:ext>
            </a:extLst>
          </p:cNvPr>
          <p:cNvPicPr>
            <a:picLocks noChangeAspect="1"/>
          </p:cNvPicPr>
          <p:nvPr/>
        </p:nvPicPr>
        <p:blipFill>
          <a:blip r:embed="rId2"/>
          <a:stretch>
            <a:fillRect/>
          </a:stretch>
        </p:blipFill>
        <p:spPr>
          <a:xfrm>
            <a:off x="574582" y="813589"/>
            <a:ext cx="4411075" cy="2742538"/>
          </a:xfrm>
          <a:prstGeom prst="rect">
            <a:avLst/>
          </a:prstGeom>
        </p:spPr>
      </p:pic>
      <p:pic>
        <p:nvPicPr>
          <p:cNvPr id="7" name="Picture 6">
            <a:extLst>
              <a:ext uri="{FF2B5EF4-FFF2-40B4-BE49-F238E27FC236}">
                <a16:creationId xmlns:a16="http://schemas.microsoft.com/office/drawing/2014/main" id="{7F98C453-70B9-B36E-8F9C-AFD665DBBB76}"/>
              </a:ext>
            </a:extLst>
          </p:cNvPr>
          <p:cNvPicPr>
            <a:picLocks noChangeAspect="1"/>
          </p:cNvPicPr>
          <p:nvPr/>
        </p:nvPicPr>
        <p:blipFill>
          <a:blip r:embed="rId3"/>
          <a:stretch>
            <a:fillRect/>
          </a:stretch>
        </p:blipFill>
        <p:spPr>
          <a:xfrm>
            <a:off x="574582" y="3657599"/>
            <a:ext cx="4411075" cy="2236123"/>
          </a:xfrm>
          <a:prstGeom prst="rect">
            <a:avLst/>
          </a:prstGeom>
        </p:spPr>
      </p:pic>
    </p:spTree>
    <p:extLst>
      <p:ext uri="{BB962C8B-B14F-4D97-AF65-F5344CB8AC3E}">
        <p14:creationId xmlns:p14="http://schemas.microsoft.com/office/powerpoint/2010/main" val="18202305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1B9F9E-EC8A-09BD-BA33-8D977519CA34}"/>
              </a:ext>
            </a:extLst>
          </p:cNvPr>
          <p:cNvSpPr>
            <a:spLocks noGrp="1"/>
          </p:cNvSpPr>
          <p:nvPr>
            <p:ph type="ctrTitle"/>
          </p:nvPr>
        </p:nvSpPr>
        <p:spPr>
          <a:xfrm>
            <a:off x="700667" y="405113"/>
            <a:ext cx="4505155" cy="6007261"/>
          </a:xfrm>
        </p:spPr>
        <p:txBody>
          <a:bodyPr>
            <a:normAutofit/>
          </a:bodyPr>
          <a:lstStyle/>
          <a:p>
            <a:pPr algn="l"/>
            <a:r>
              <a:rPr lang="en-US" sz="4400" b="1" dirty="0">
                <a:latin typeface="Times New Roman" panose="02020603050405020304" pitchFamily="18" charset="0"/>
                <a:cs typeface="Times New Roman" panose="02020603050405020304" pitchFamily="18" charset="0"/>
              </a:rPr>
              <a:t>       Results</a:t>
            </a:r>
            <a:br>
              <a:rPr lang="en-US" sz="4400" b="1"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Model Performance</a:t>
            </a:r>
            <a:r>
              <a:rPr lang="en-US" sz="2000"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R² score of 0.9422 indicating good prediction accuracy.</a:t>
            </a:r>
            <a:br>
              <a:rPr lang="en-US" sz="2000" b="0" dirty="0">
                <a:latin typeface="Times New Roman" panose="02020603050405020304" pitchFamily="18" charset="0"/>
                <a:cs typeface="Times New Roman" panose="02020603050405020304" pitchFamily="18" charset="0"/>
              </a:rPr>
            </a:br>
            <a:br>
              <a:rPr lang="en-US" sz="2000" b="0" dirty="0">
                <a:latin typeface="Times New Roman" panose="02020603050405020304" pitchFamily="18" charset="0"/>
                <a:cs typeface="Times New Roman" panose="02020603050405020304" pitchFamily="18" charset="0"/>
              </a:rPr>
            </a:br>
            <a:r>
              <a:rPr lang="en-IN" sz="2000" b="0" dirty="0">
                <a:effectLst/>
                <a:latin typeface="Times New Roman" panose="02020603050405020304" pitchFamily="18" charset="0"/>
                <a:ea typeface="Times New Roman" panose="02020603050405020304" pitchFamily="18" charset="0"/>
              </a:rPr>
              <a:t>A visualization comparing actual vs. predicted stock prices was generated using the test data. The graph highlights that the model effectively captures the trends and overall movement of stock prices, though some deviation occurs over longer prediction windows.</a:t>
            </a:r>
            <a:br>
              <a:rPr lang="en-IN" sz="2000" dirty="0">
                <a:effectLst/>
                <a:latin typeface="Times New Roman" panose="02020603050405020304" pitchFamily="18" charset="0"/>
                <a:ea typeface="Times New Roman" panose="02020603050405020304" pitchFamily="18" charset="0"/>
              </a:rPr>
            </a:br>
            <a:br>
              <a:rPr lang="en-US" sz="2200" b="0" dirty="0">
                <a:latin typeface="Times New Roman" panose="02020603050405020304" pitchFamily="18" charset="0"/>
                <a:cs typeface="Times New Roman" panose="02020603050405020304" pitchFamily="18" charset="0"/>
              </a:rPr>
            </a:br>
            <a:br>
              <a:rPr lang="en-US" sz="2200" dirty="0"/>
            </a:br>
            <a:endParaRPr lang="en-US" sz="2200" dirty="0"/>
          </a:p>
        </p:txBody>
      </p:sp>
      <p:sp>
        <p:nvSpPr>
          <p:cNvPr id="2" name="Slide Number Placeholder 1">
            <a:extLst>
              <a:ext uri="{FF2B5EF4-FFF2-40B4-BE49-F238E27FC236}">
                <a16:creationId xmlns:a16="http://schemas.microsoft.com/office/drawing/2014/main" id="{B1B617AD-09E2-07D1-0572-86BE7139B998}"/>
              </a:ext>
            </a:extLst>
          </p:cNvPr>
          <p:cNvSpPr>
            <a:spLocks noGrp="1"/>
          </p:cNvSpPr>
          <p:nvPr>
            <p:ph type="sldNum" sz="quarter" idx="14"/>
          </p:nvPr>
        </p:nvSpPr>
        <p:spPr>
          <a:xfrm>
            <a:off x="10922000" y="6145255"/>
            <a:ext cx="845114" cy="365125"/>
          </a:xfrm>
        </p:spPr>
        <p:txBody>
          <a:bodyPr/>
          <a:lstStyle/>
          <a:p>
            <a:fld id="{294A09A9-5501-47C1-A89A-A340965A2BE2}" type="slidenum">
              <a:rPr lang="en-US" smtClean="0"/>
              <a:pPr/>
              <a:t>10</a:t>
            </a:fld>
            <a:endParaRPr lang="en-US" dirty="0"/>
          </a:p>
        </p:txBody>
      </p:sp>
      <p:pic>
        <p:nvPicPr>
          <p:cNvPr id="4" name="Picture 3">
            <a:extLst>
              <a:ext uri="{FF2B5EF4-FFF2-40B4-BE49-F238E27FC236}">
                <a16:creationId xmlns:a16="http://schemas.microsoft.com/office/drawing/2014/main" id="{47625280-6F7D-7AF9-1265-BFBCEBB2240C}"/>
              </a:ext>
            </a:extLst>
          </p:cNvPr>
          <p:cNvPicPr>
            <a:picLocks noChangeAspect="1"/>
          </p:cNvPicPr>
          <p:nvPr/>
        </p:nvPicPr>
        <p:blipFill>
          <a:blip r:embed="rId2"/>
          <a:stretch>
            <a:fillRect/>
          </a:stretch>
        </p:blipFill>
        <p:spPr>
          <a:xfrm>
            <a:off x="5986855" y="4288918"/>
            <a:ext cx="5272970" cy="1360767"/>
          </a:xfrm>
          <a:prstGeom prst="rect">
            <a:avLst/>
          </a:prstGeom>
        </p:spPr>
      </p:pic>
      <p:pic>
        <p:nvPicPr>
          <p:cNvPr id="9" name="Picture 8">
            <a:extLst>
              <a:ext uri="{FF2B5EF4-FFF2-40B4-BE49-F238E27FC236}">
                <a16:creationId xmlns:a16="http://schemas.microsoft.com/office/drawing/2014/main" id="{0CAE58B6-FC39-34E6-9BCB-D587B1F01DCA}"/>
              </a:ext>
            </a:extLst>
          </p:cNvPr>
          <p:cNvPicPr>
            <a:picLocks noChangeAspect="1"/>
          </p:cNvPicPr>
          <p:nvPr/>
        </p:nvPicPr>
        <p:blipFill>
          <a:blip r:embed="rId3"/>
          <a:stretch>
            <a:fillRect/>
          </a:stretch>
        </p:blipFill>
        <p:spPr>
          <a:xfrm>
            <a:off x="5460462" y="711406"/>
            <a:ext cx="6161483" cy="3250993"/>
          </a:xfrm>
          <a:prstGeom prst="rect">
            <a:avLst/>
          </a:prstGeom>
        </p:spPr>
      </p:pic>
    </p:spTree>
    <p:extLst>
      <p:ext uri="{BB962C8B-B14F-4D97-AF65-F5344CB8AC3E}">
        <p14:creationId xmlns:p14="http://schemas.microsoft.com/office/powerpoint/2010/main" val="106782143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F858FF-F2CB-9638-0C96-2DD2DA05DC31}"/>
              </a:ext>
            </a:extLst>
          </p:cNvPr>
          <p:cNvPicPr>
            <a:picLocks noChangeAspect="1"/>
          </p:cNvPicPr>
          <p:nvPr/>
        </p:nvPicPr>
        <p:blipFill>
          <a:blip r:embed="rId2"/>
          <a:stretch>
            <a:fillRect/>
          </a:stretch>
        </p:blipFill>
        <p:spPr>
          <a:xfrm>
            <a:off x="424886" y="1713160"/>
            <a:ext cx="8779775" cy="4614657"/>
          </a:xfrm>
          <a:prstGeom prst="rect">
            <a:avLst/>
          </a:prstGeom>
        </p:spPr>
      </p:pic>
      <p:sp>
        <p:nvSpPr>
          <p:cNvPr id="9" name="Rectangle 8">
            <a:extLst>
              <a:ext uri="{FF2B5EF4-FFF2-40B4-BE49-F238E27FC236}">
                <a16:creationId xmlns:a16="http://schemas.microsoft.com/office/drawing/2014/main" id="{58A3008B-82D5-31D5-7607-42F3EBBFF43E}"/>
              </a:ext>
            </a:extLst>
          </p:cNvPr>
          <p:cNvSpPr/>
          <p:nvPr/>
        </p:nvSpPr>
        <p:spPr>
          <a:xfrm>
            <a:off x="6542314" y="347620"/>
            <a:ext cx="5040086" cy="2961637"/>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4" name="Title 3">
            <a:extLst>
              <a:ext uri="{FF2B5EF4-FFF2-40B4-BE49-F238E27FC236}">
                <a16:creationId xmlns:a16="http://schemas.microsoft.com/office/drawing/2014/main" id="{FBDA9D2C-79E5-25CF-E4A6-2AA9C1BE822E}"/>
              </a:ext>
            </a:extLst>
          </p:cNvPr>
          <p:cNvSpPr>
            <a:spLocks noGrp="1"/>
          </p:cNvSpPr>
          <p:nvPr>
            <p:ph type="ctrTitle"/>
          </p:nvPr>
        </p:nvSpPr>
        <p:spPr>
          <a:xfrm>
            <a:off x="424886" y="347620"/>
            <a:ext cx="4789371" cy="1034866"/>
          </a:xfrm>
        </p:spPr>
        <p:txBody>
          <a:bodyPr/>
          <a:lstStyle/>
          <a:p>
            <a:r>
              <a:rPr lang="en-IN" b="1" dirty="0" err="1">
                <a:latin typeface="Times New Roman" panose="02020603050405020304" pitchFamily="18" charset="0"/>
                <a:cs typeface="Times New Roman" panose="02020603050405020304" pitchFamily="18" charset="0"/>
              </a:rPr>
              <a:t>Streamlit</a:t>
            </a:r>
            <a:r>
              <a:rPr lang="en-IN" b="1" dirty="0">
                <a:latin typeface="Times New Roman" panose="02020603050405020304" pitchFamily="18" charset="0"/>
                <a:cs typeface="Times New Roman" panose="02020603050405020304" pitchFamily="18" charset="0"/>
              </a:rPr>
              <a:t> Web App</a:t>
            </a:r>
            <a:endParaRPr lang="en-US" b="1" dirty="0">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862F5D22-6C73-5967-E35C-917445CF1309}"/>
              </a:ext>
            </a:extLst>
          </p:cNvPr>
          <p:cNvSpPr>
            <a:spLocks noGrp="1"/>
          </p:cNvSpPr>
          <p:nvPr>
            <p:ph type="sldNum" sz="quarter" idx="14"/>
          </p:nvPr>
        </p:nvSpPr>
        <p:spPr>
          <a:xfrm>
            <a:off x="10922000" y="6145255"/>
            <a:ext cx="845114" cy="365125"/>
          </a:xfrm>
        </p:spPr>
        <p:txBody>
          <a:bodyPr/>
          <a:lstStyle/>
          <a:p>
            <a:fld id="{294A09A9-5501-47C1-A89A-A340965A2BE2}" type="slidenum">
              <a:rPr lang="en-US" smtClean="0"/>
              <a:pPr/>
              <a:t>11</a:t>
            </a:fld>
            <a:endParaRPr lang="en-US" dirty="0"/>
          </a:p>
        </p:txBody>
      </p:sp>
      <p:sp>
        <p:nvSpPr>
          <p:cNvPr id="2" name="Content Placeholder 1">
            <a:extLst>
              <a:ext uri="{FF2B5EF4-FFF2-40B4-BE49-F238E27FC236}">
                <a16:creationId xmlns:a16="http://schemas.microsoft.com/office/drawing/2014/main" id="{50F6DBCD-F54D-3117-FC66-26707145173D}"/>
              </a:ext>
            </a:extLst>
          </p:cNvPr>
          <p:cNvSpPr>
            <a:spLocks noGrp="1" noChangeArrowheads="1"/>
          </p:cNvSpPr>
          <p:nvPr>
            <p:ph sz="quarter" idx="11"/>
          </p:nvPr>
        </p:nvSpPr>
        <p:spPr bwMode="auto">
          <a:xfrm>
            <a:off x="6534615" y="668602"/>
            <a:ext cx="503689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User Interface</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a:t>
            </a: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Inputs: Stock ticker, date range, prediction window.</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Outputs: Historical trends, moving averages, predicted prices.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Real-time stock data retrieval.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Interactive visualizations for better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9334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E6599B-92EE-DA04-9056-C282E455D7DA}"/>
              </a:ext>
            </a:extLst>
          </p:cNvPr>
          <p:cNvSpPr>
            <a:spLocks noGrp="1"/>
          </p:cNvSpPr>
          <p:nvPr>
            <p:ph type="title"/>
          </p:nvPr>
        </p:nvSpPr>
        <p:spPr>
          <a:xfrm>
            <a:off x="381000" y="381000"/>
            <a:ext cx="11430000" cy="1325563"/>
          </a:xfrm>
        </p:spPr>
        <p:txBody>
          <a:bodyPr>
            <a:normAutofit/>
          </a:bodyPr>
          <a:lstStyle/>
          <a:p>
            <a:r>
              <a:rPr lang="en-US" sz="4000" b="1" dirty="0">
                <a:latin typeface="Times New Roman" panose="02020603050405020304" pitchFamily="18" charset="0"/>
                <a:cs typeface="Times New Roman" panose="02020603050405020304" pitchFamily="18" charset="0"/>
              </a:rPr>
              <a:t>Graphical Visualizations</a:t>
            </a:r>
          </a:p>
        </p:txBody>
      </p:sp>
      <p:sp>
        <p:nvSpPr>
          <p:cNvPr id="2" name="Slide Number Placeholder 1">
            <a:extLst>
              <a:ext uri="{FF2B5EF4-FFF2-40B4-BE49-F238E27FC236}">
                <a16:creationId xmlns:a16="http://schemas.microsoft.com/office/drawing/2014/main" id="{55232BDC-58BE-5669-7C02-6227C42B53A9}"/>
              </a:ext>
            </a:extLst>
          </p:cNvPr>
          <p:cNvSpPr>
            <a:spLocks noGrp="1"/>
          </p:cNvSpPr>
          <p:nvPr>
            <p:ph type="sldNum" sz="quarter" idx="13"/>
          </p:nvPr>
        </p:nvSpPr>
        <p:spPr>
          <a:xfrm>
            <a:off x="10922000" y="6145255"/>
            <a:ext cx="845114" cy="365125"/>
          </a:xfrm>
        </p:spPr>
        <p:txBody>
          <a:bodyPr/>
          <a:lstStyle/>
          <a:p>
            <a:fld id="{294A09A9-5501-47C1-A89A-A340965A2BE2}" type="slidenum">
              <a:rPr lang="en-US" smtClean="0"/>
              <a:pPr/>
              <a:t>12</a:t>
            </a:fld>
            <a:endParaRPr lang="en-US" dirty="0"/>
          </a:p>
        </p:txBody>
      </p:sp>
      <p:pic>
        <p:nvPicPr>
          <p:cNvPr id="10" name="Picture 9">
            <a:extLst>
              <a:ext uri="{FF2B5EF4-FFF2-40B4-BE49-F238E27FC236}">
                <a16:creationId xmlns:a16="http://schemas.microsoft.com/office/drawing/2014/main" id="{51D40707-97A2-36C6-C9A8-0CEEB513A80B}"/>
              </a:ext>
            </a:extLst>
          </p:cNvPr>
          <p:cNvPicPr>
            <a:picLocks noChangeAspect="1"/>
          </p:cNvPicPr>
          <p:nvPr/>
        </p:nvPicPr>
        <p:blipFill>
          <a:blip r:embed="rId2"/>
          <a:stretch>
            <a:fillRect/>
          </a:stretch>
        </p:blipFill>
        <p:spPr>
          <a:xfrm>
            <a:off x="381000" y="1560285"/>
            <a:ext cx="5662930" cy="3454400"/>
          </a:xfrm>
          <a:prstGeom prst="rect">
            <a:avLst/>
          </a:prstGeom>
        </p:spPr>
      </p:pic>
      <p:pic>
        <p:nvPicPr>
          <p:cNvPr id="11" name="Picture 10">
            <a:extLst>
              <a:ext uri="{FF2B5EF4-FFF2-40B4-BE49-F238E27FC236}">
                <a16:creationId xmlns:a16="http://schemas.microsoft.com/office/drawing/2014/main" id="{53771DFB-5E88-E1F5-3382-79F871A05D3A}"/>
              </a:ext>
            </a:extLst>
          </p:cNvPr>
          <p:cNvPicPr>
            <a:picLocks noChangeAspect="1"/>
          </p:cNvPicPr>
          <p:nvPr/>
        </p:nvPicPr>
        <p:blipFill>
          <a:blip r:embed="rId3"/>
          <a:stretch>
            <a:fillRect/>
          </a:stretch>
        </p:blipFill>
        <p:spPr>
          <a:xfrm>
            <a:off x="5864267" y="2873417"/>
            <a:ext cx="5946733" cy="3454400"/>
          </a:xfrm>
          <a:prstGeom prst="rect">
            <a:avLst/>
          </a:prstGeom>
        </p:spPr>
      </p:pic>
    </p:spTree>
    <p:extLst>
      <p:ext uri="{BB962C8B-B14F-4D97-AF65-F5344CB8AC3E}">
        <p14:creationId xmlns:p14="http://schemas.microsoft.com/office/powerpoint/2010/main" val="37696146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C25A-3344-E5CE-05FB-FF05D934F0E3}"/>
              </a:ext>
            </a:extLst>
          </p:cNvPr>
          <p:cNvSpPr>
            <a:spLocks noGrp="1"/>
          </p:cNvSpPr>
          <p:nvPr>
            <p:ph type="ctrTitle"/>
          </p:nvPr>
        </p:nvSpPr>
        <p:spPr>
          <a:xfrm>
            <a:off x="1518745" y="507245"/>
            <a:ext cx="9143999" cy="1397756"/>
          </a:xfrm>
        </p:spPr>
        <p:txBody>
          <a:bodyPr/>
          <a:lstStyle/>
          <a:p>
            <a:pPr algn="ctr"/>
            <a:r>
              <a:rPr lang="en-US" dirty="0">
                <a:latin typeface="Times New Roman" panose="02020603050405020304" pitchFamily="18" charset="0"/>
                <a:cs typeface="Times New Roman" panose="02020603050405020304" pitchFamily="18" charset="0"/>
              </a:rPr>
              <a:t>Future Price Prediction</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74660E0-857A-8994-D8D1-20A7E01D1A38}"/>
              </a:ext>
            </a:extLst>
          </p:cNvPr>
          <p:cNvSpPr>
            <a:spLocks noGrp="1"/>
          </p:cNvSpPr>
          <p:nvPr>
            <p:ph type="sldNum" sz="quarter" idx="12"/>
          </p:nvPr>
        </p:nvSpPr>
        <p:spPr/>
        <p:txBody>
          <a:bodyPr/>
          <a:lstStyle/>
          <a:p>
            <a:fld id="{294A09A9-5501-47C1-A89A-A340965A2BE2}" type="slidenum">
              <a:rPr lang="en-US" smtClean="0"/>
              <a:pPr/>
              <a:t>13</a:t>
            </a:fld>
            <a:endParaRPr lang="en-US" dirty="0"/>
          </a:p>
        </p:txBody>
      </p:sp>
      <p:pic>
        <p:nvPicPr>
          <p:cNvPr id="5" name="Picture 4">
            <a:extLst>
              <a:ext uri="{FF2B5EF4-FFF2-40B4-BE49-F238E27FC236}">
                <a16:creationId xmlns:a16="http://schemas.microsoft.com/office/drawing/2014/main" id="{A7E8164C-9C9A-87DE-2192-8E558E2224F7}"/>
              </a:ext>
            </a:extLst>
          </p:cNvPr>
          <p:cNvPicPr>
            <a:picLocks noChangeAspect="1"/>
          </p:cNvPicPr>
          <p:nvPr/>
        </p:nvPicPr>
        <p:blipFill>
          <a:blip r:embed="rId2"/>
          <a:stretch>
            <a:fillRect/>
          </a:stretch>
        </p:blipFill>
        <p:spPr>
          <a:xfrm>
            <a:off x="738188" y="2001427"/>
            <a:ext cx="4924425" cy="3251200"/>
          </a:xfrm>
          <a:prstGeom prst="rect">
            <a:avLst/>
          </a:prstGeom>
        </p:spPr>
      </p:pic>
      <p:pic>
        <p:nvPicPr>
          <p:cNvPr id="6" name="Picture 5">
            <a:extLst>
              <a:ext uri="{FF2B5EF4-FFF2-40B4-BE49-F238E27FC236}">
                <a16:creationId xmlns:a16="http://schemas.microsoft.com/office/drawing/2014/main" id="{AD94A88D-0F82-5668-977A-7224483C944A}"/>
              </a:ext>
            </a:extLst>
          </p:cNvPr>
          <p:cNvPicPr>
            <a:picLocks noChangeAspect="1"/>
          </p:cNvPicPr>
          <p:nvPr/>
        </p:nvPicPr>
        <p:blipFill>
          <a:blip r:embed="rId3"/>
          <a:stretch>
            <a:fillRect/>
          </a:stretch>
        </p:blipFill>
        <p:spPr>
          <a:xfrm>
            <a:off x="5270727" y="2894055"/>
            <a:ext cx="6496387" cy="3263479"/>
          </a:xfrm>
          <a:prstGeom prst="rect">
            <a:avLst/>
          </a:prstGeom>
        </p:spPr>
      </p:pic>
    </p:spTree>
    <p:extLst>
      <p:ext uri="{BB962C8B-B14F-4D97-AF65-F5344CB8AC3E}">
        <p14:creationId xmlns:p14="http://schemas.microsoft.com/office/powerpoint/2010/main" val="2320339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8D247-2C7D-1DC0-87DE-679FF2F4B8D3}"/>
              </a:ext>
            </a:extLst>
          </p:cNvPr>
          <p:cNvSpPr>
            <a:spLocks noGrp="1"/>
          </p:cNvSpPr>
          <p:nvPr>
            <p:ph type="title"/>
          </p:nvPr>
        </p:nvSpPr>
        <p:spPr>
          <a:xfrm>
            <a:off x="381000" y="381000"/>
            <a:ext cx="11430000" cy="1325563"/>
          </a:xfrm>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2" name="Slide Number Placeholder 1">
            <a:extLst>
              <a:ext uri="{FF2B5EF4-FFF2-40B4-BE49-F238E27FC236}">
                <a16:creationId xmlns:a16="http://schemas.microsoft.com/office/drawing/2014/main" id="{2651400D-A5B1-7DF5-73CA-6C020EFD7A83}"/>
              </a:ext>
            </a:extLst>
          </p:cNvPr>
          <p:cNvSpPr>
            <a:spLocks noGrp="1"/>
          </p:cNvSpPr>
          <p:nvPr>
            <p:ph type="sldNum" sz="quarter" idx="13"/>
          </p:nvPr>
        </p:nvSpPr>
        <p:spPr>
          <a:xfrm>
            <a:off x="10922000" y="6145255"/>
            <a:ext cx="845114" cy="365125"/>
          </a:xfrm>
        </p:spPr>
        <p:txBody>
          <a:bodyPr/>
          <a:lstStyle/>
          <a:p>
            <a:fld id="{294A09A9-5501-47C1-A89A-A340965A2BE2}" type="slidenum">
              <a:rPr lang="en-US" smtClean="0"/>
              <a:pPr/>
              <a:t>14</a:t>
            </a:fld>
            <a:endParaRPr lang="en-US" dirty="0"/>
          </a:p>
        </p:txBody>
      </p:sp>
      <p:sp>
        <p:nvSpPr>
          <p:cNvPr id="10" name="Rectangle 2">
            <a:extLst>
              <a:ext uri="{FF2B5EF4-FFF2-40B4-BE49-F238E27FC236}">
                <a16:creationId xmlns:a16="http://schemas.microsoft.com/office/drawing/2014/main" id="{F9F00AF0-7015-45F5-6C4A-8D71D834A515}"/>
              </a:ext>
            </a:extLst>
          </p:cNvPr>
          <p:cNvSpPr>
            <a:spLocks noGrp="1" noChangeArrowheads="1"/>
          </p:cNvSpPr>
          <p:nvPr>
            <p:ph idx="10"/>
          </p:nvPr>
        </p:nvSpPr>
        <p:spPr bwMode="auto">
          <a:xfrm>
            <a:off x="870858" y="1408776"/>
            <a:ext cx="1065711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effectLst/>
                <a:latin typeface="Arial" panose="020B0604020202020204" pitchFamily="34" charset="0"/>
              </a:rPr>
              <a:t>Effective Use of LSTM</a:t>
            </a:r>
            <a:r>
              <a:rPr kumimoji="0" lang="en-US" altLang="en-US" sz="1800" b="0" i="0" u="none" strike="noStrike" cap="none" normalizeH="0" baseline="0" dirty="0">
                <a:ln>
                  <a:noFill/>
                </a:ln>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The Long Short-Term Memory (LSTM) model was successfully applied to predict </a:t>
            </a:r>
            <a:r>
              <a:rPr kumimoji="0" lang="en-US" altLang="en-US" sz="1800" b="1" i="0" u="none" strike="noStrike" cap="none" normalizeH="0" baseline="0" dirty="0">
                <a:ln>
                  <a:noFill/>
                </a:ln>
                <a:effectLst/>
                <a:latin typeface="Arial" panose="020B0604020202020204" pitchFamily="34" charset="0"/>
              </a:rPr>
              <a:t>stock market prices</a:t>
            </a:r>
            <a:r>
              <a:rPr kumimoji="0" lang="en-US" altLang="en-US" sz="1800" b="0" i="0" u="none" strike="noStrike" cap="none" normalizeH="0" baseline="0" dirty="0">
                <a:ln>
                  <a:noFill/>
                </a:ln>
                <a:effectLst/>
                <a:latin typeface="Arial" panose="020B0604020202020204" pitchFamily="34" charset="0"/>
              </a:rPr>
              <a:t>.</a:t>
            </a:r>
            <a:endParaRPr lang="en-US" altLang="en-US" sz="1800" b="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The LSTM model captured both </a:t>
            </a:r>
            <a:r>
              <a:rPr kumimoji="0" lang="en-US" altLang="en-US" sz="1800" b="1" i="0" u="none" strike="noStrike" cap="none" normalizeH="0" baseline="0" dirty="0">
                <a:ln>
                  <a:noFill/>
                </a:ln>
                <a:effectLst/>
                <a:latin typeface="Arial" panose="020B0604020202020204" pitchFamily="34" charset="0"/>
              </a:rPr>
              <a:t>short-term fluctuations</a:t>
            </a:r>
            <a:r>
              <a:rPr kumimoji="0" lang="en-US" altLang="en-US" sz="1800" b="0" i="0" u="none" strike="noStrike" cap="none" normalizeH="0" baseline="0" dirty="0">
                <a:ln>
                  <a:noFill/>
                </a:ln>
                <a:effectLst/>
                <a:latin typeface="Arial" panose="020B0604020202020204" pitchFamily="34" charset="0"/>
              </a:rPr>
              <a:t> and </a:t>
            </a:r>
            <a:r>
              <a:rPr kumimoji="0" lang="en-US" altLang="en-US" sz="1800" b="1" i="0" u="none" strike="noStrike" cap="none" normalizeH="0" baseline="0" dirty="0">
                <a:ln>
                  <a:noFill/>
                </a:ln>
                <a:effectLst/>
                <a:latin typeface="Arial" panose="020B0604020202020204" pitchFamily="34" charset="0"/>
              </a:rPr>
              <a:t>long-term trends</a:t>
            </a:r>
            <a:r>
              <a:rPr kumimoji="0" lang="en-US" altLang="en-US" sz="1800" b="0" i="0" u="none" strike="noStrike" cap="none" normalizeH="0" baseline="0" dirty="0">
                <a:ln>
                  <a:noFill/>
                </a:ln>
                <a:effectLst/>
                <a:latin typeface="Arial" panose="020B0604020202020204" pitchFamily="34" charset="0"/>
              </a:rPr>
              <a:t> in stock prices, showcasing its robustness for time-series forecasting.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effectLst/>
                <a:latin typeface="Arial" panose="020B0604020202020204" pitchFamily="34" charset="0"/>
              </a:rPr>
              <a:t>Streamlit</a:t>
            </a:r>
            <a:r>
              <a:rPr kumimoji="0" lang="en-US" altLang="en-US" sz="1800" b="1" i="0" u="none" strike="noStrike" cap="none" normalizeH="0" baseline="0" dirty="0">
                <a:ln>
                  <a:noFill/>
                </a:ln>
                <a:effectLst/>
                <a:latin typeface="Arial" panose="020B0604020202020204" pitchFamily="34" charset="0"/>
              </a:rPr>
              <a:t> Web App</a:t>
            </a:r>
            <a:r>
              <a:rPr kumimoji="0" lang="en-US" altLang="en-US" sz="1800" b="0" i="0" u="none" strike="noStrike" cap="none" normalizeH="0" baseline="0" dirty="0">
                <a:ln>
                  <a:noFill/>
                </a:ln>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An intuitive and interactive web app was developed, allowing users to visualize </a:t>
            </a:r>
            <a:r>
              <a:rPr kumimoji="0" lang="en-US" altLang="en-US" sz="1800" b="1" i="0" u="none" strike="noStrike" cap="none" normalizeH="0" baseline="0" dirty="0">
                <a:ln>
                  <a:noFill/>
                </a:ln>
                <a:effectLst/>
                <a:latin typeface="Arial" panose="020B0604020202020204" pitchFamily="34" charset="0"/>
              </a:rPr>
              <a:t>historical trends</a:t>
            </a:r>
            <a:r>
              <a:rPr kumimoji="0" lang="en-US" altLang="en-US" sz="1800" b="0" i="0" u="none" strike="noStrike" cap="none" normalizeH="0" baseline="0" dirty="0">
                <a:ln>
                  <a:noFill/>
                </a:ln>
                <a:effectLst/>
                <a:latin typeface="Arial" panose="020B0604020202020204" pitchFamily="34" charset="0"/>
              </a:rPr>
              <a:t> and </a:t>
            </a:r>
            <a:r>
              <a:rPr kumimoji="0" lang="en-US" altLang="en-US" sz="1800" b="1" i="0" u="none" strike="noStrike" cap="none" normalizeH="0" baseline="0" dirty="0">
                <a:ln>
                  <a:noFill/>
                </a:ln>
                <a:effectLst/>
                <a:latin typeface="Arial" panose="020B0604020202020204" pitchFamily="34" charset="0"/>
              </a:rPr>
              <a:t>future price predictions</a:t>
            </a:r>
            <a:r>
              <a:rPr kumimoji="0" lang="en-US" altLang="en-US" sz="1800" b="0" i="0" u="none" strike="noStrike" cap="none" normalizeH="0" baseline="0" dirty="0">
                <a:ln>
                  <a:noFill/>
                </a:ln>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The app facilitates easy </a:t>
            </a:r>
            <a:r>
              <a:rPr kumimoji="0" lang="en-US" altLang="en-US" sz="1800" b="1" i="0" u="none" strike="noStrike" cap="none" normalizeH="0" baseline="0" dirty="0">
                <a:ln>
                  <a:noFill/>
                </a:ln>
                <a:effectLst/>
                <a:latin typeface="Arial" panose="020B0604020202020204" pitchFamily="34" charset="0"/>
              </a:rPr>
              <a:t>real-time analysis</a:t>
            </a:r>
            <a:r>
              <a:rPr kumimoji="0" lang="en-US" altLang="en-US" sz="1800" b="0" i="0" u="none" strike="noStrike" cap="none" normalizeH="0" baseline="0" dirty="0">
                <a:ln>
                  <a:noFill/>
                </a:ln>
                <a:effectLst/>
                <a:latin typeface="Arial" panose="020B0604020202020204" pitchFamily="34" charset="0"/>
              </a:rPr>
              <a:t> for users, making stock trend analysis accessible to both technical and non-technical users.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effectLst/>
                <a:latin typeface="Arial" panose="020B0604020202020204" pitchFamily="34" charset="0"/>
              </a:rPr>
              <a:t>Project Impact</a:t>
            </a:r>
            <a:r>
              <a:rPr kumimoji="0" lang="en-US" altLang="en-US" sz="1800" b="0" i="0" u="none" strike="noStrike" cap="none" normalizeH="0" baseline="0" dirty="0">
                <a:ln>
                  <a:noFill/>
                </a:ln>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This project demonstrates how </a:t>
            </a:r>
            <a:r>
              <a:rPr kumimoji="0" lang="en-US" altLang="en-US" sz="1800" b="1" i="0" u="none" strike="noStrike" cap="none" normalizeH="0" baseline="0" dirty="0">
                <a:ln>
                  <a:noFill/>
                </a:ln>
                <a:effectLst/>
                <a:latin typeface="Arial" panose="020B0604020202020204" pitchFamily="34" charset="0"/>
              </a:rPr>
              <a:t>machine learning</a:t>
            </a:r>
            <a:r>
              <a:rPr kumimoji="0" lang="en-US" altLang="en-US" sz="1800" b="0" i="0" u="none" strike="noStrike" cap="none" normalizeH="0" baseline="0" dirty="0">
                <a:ln>
                  <a:noFill/>
                </a:ln>
                <a:effectLst/>
                <a:latin typeface="Arial" panose="020B0604020202020204" pitchFamily="34" charset="0"/>
              </a:rPr>
              <a:t> and </a:t>
            </a:r>
            <a:r>
              <a:rPr kumimoji="0" lang="en-US" altLang="en-US" sz="1800" b="1" i="0" u="none" strike="noStrike" cap="none" normalizeH="0" baseline="0" dirty="0">
                <a:ln>
                  <a:noFill/>
                </a:ln>
                <a:effectLst/>
                <a:latin typeface="Arial" panose="020B0604020202020204" pitchFamily="34" charset="0"/>
              </a:rPr>
              <a:t>deep learning techniques</a:t>
            </a:r>
            <a:r>
              <a:rPr kumimoji="0" lang="en-US" altLang="en-US" sz="1800" b="0" i="0" u="none" strike="noStrike" cap="none" normalizeH="0" baseline="0" dirty="0">
                <a:ln>
                  <a:noFill/>
                </a:ln>
                <a:effectLst/>
                <a:latin typeface="Arial" panose="020B0604020202020204" pitchFamily="34" charset="0"/>
              </a:rPr>
              <a:t> can be integrated to solve real-world financial forecasting problems.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The platform offers a practical tool for </a:t>
            </a:r>
            <a:r>
              <a:rPr kumimoji="0" lang="en-US" altLang="en-US" sz="1800" b="1" i="0" u="none" strike="noStrike" cap="none" normalizeH="0" baseline="0" dirty="0">
                <a:ln>
                  <a:noFill/>
                </a:ln>
                <a:effectLst/>
                <a:latin typeface="Arial" panose="020B0604020202020204" pitchFamily="34" charset="0"/>
              </a:rPr>
              <a:t>investors and analysts</a:t>
            </a:r>
            <a:r>
              <a:rPr kumimoji="0" lang="en-US" altLang="en-US" sz="1800" b="0" i="0" u="none" strike="noStrike" cap="none" normalizeH="0" baseline="0" dirty="0">
                <a:ln>
                  <a:noFill/>
                </a:ln>
                <a:effectLst/>
                <a:latin typeface="Arial" panose="020B0604020202020204" pitchFamily="34" charset="0"/>
              </a:rPr>
              <a:t> to make informed decisions based on data-driven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7416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8EEFE-3603-56A9-02FC-A2488A187851}"/>
              </a:ext>
            </a:extLst>
          </p:cNvPr>
          <p:cNvSpPr>
            <a:spLocks noGrp="1"/>
          </p:cNvSpPr>
          <p:nvPr>
            <p:ph type="title"/>
          </p:nvPr>
        </p:nvSpPr>
        <p:spPr>
          <a:xfrm>
            <a:off x="381000" y="381001"/>
            <a:ext cx="11430000" cy="903514"/>
          </a:xfrm>
        </p:spPr>
        <p:txBody>
          <a:bodyPr/>
          <a:lstStyle/>
          <a:p>
            <a:r>
              <a:rPr lang="en-US" b="1" dirty="0">
                <a:latin typeface="Times New Roman" panose="02020603050405020304" pitchFamily="18" charset="0"/>
                <a:cs typeface="Times New Roman" panose="02020603050405020304" pitchFamily="18" charset="0"/>
              </a:rPr>
              <a:t>Future Scope</a:t>
            </a:r>
          </a:p>
        </p:txBody>
      </p:sp>
      <p:sp>
        <p:nvSpPr>
          <p:cNvPr id="5" name="Slide Number Placeholder 4">
            <a:extLst>
              <a:ext uri="{FF2B5EF4-FFF2-40B4-BE49-F238E27FC236}">
                <a16:creationId xmlns:a16="http://schemas.microsoft.com/office/drawing/2014/main" id="{9337D425-ACCD-D8C2-7544-51EDA05C8F14}"/>
              </a:ext>
            </a:extLst>
          </p:cNvPr>
          <p:cNvSpPr>
            <a:spLocks noGrp="1"/>
          </p:cNvSpPr>
          <p:nvPr>
            <p:ph type="sldNum" sz="quarter" idx="14"/>
          </p:nvPr>
        </p:nvSpPr>
        <p:spPr>
          <a:xfrm>
            <a:off x="10922000" y="6145255"/>
            <a:ext cx="845114" cy="365125"/>
          </a:xfrm>
        </p:spPr>
        <p:txBody>
          <a:bodyPr/>
          <a:lstStyle/>
          <a:p>
            <a:fld id="{294A09A9-5501-47C1-A89A-A340965A2BE2}" type="slidenum">
              <a:rPr lang="en-US" smtClean="0"/>
              <a:pPr/>
              <a:t>15</a:t>
            </a:fld>
            <a:endParaRPr lang="en-US" dirty="0"/>
          </a:p>
        </p:txBody>
      </p:sp>
      <p:sp>
        <p:nvSpPr>
          <p:cNvPr id="6" name="Rectangle 1">
            <a:extLst>
              <a:ext uri="{FF2B5EF4-FFF2-40B4-BE49-F238E27FC236}">
                <a16:creationId xmlns:a16="http://schemas.microsoft.com/office/drawing/2014/main" id="{620896DC-8B69-0DE0-273A-CF7A9F057045}"/>
              </a:ext>
            </a:extLst>
          </p:cNvPr>
          <p:cNvSpPr>
            <a:spLocks noGrp="1" noChangeArrowheads="1"/>
          </p:cNvSpPr>
          <p:nvPr>
            <p:ph idx="1"/>
          </p:nvPr>
        </p:nvSpPr>
        <p:spPr bwMode="auto">
          <a:xfrm>
            <a:off x="1100138" y="1545482"/>
            <a:ext cx="511560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Arial" panose="020B0604020202020204" pitchFamily="34" charset="0"/>
              </a:rPr>
              <a:t>Incorporate Additional Data Sources</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Expand the model by including external factors such as </a:t>
            </a:r>
            <a:r>
              <a:rPr kumimoji="0" lang="en-US" altLang="en-US" sz="1800" b="1" i="0" u="none" strike="noStrike" cap="none" normalizeH="0" baseline="0" dirty="0">
                <a:ln>
                  <a:noFill/>
                </a:ln>
                <a:effectLst/>
                <a:latin typeface="Arial" panose="020B0604020202020204" pitchFamily="34" charset="0"/>
              </a:rPr>
              <a:t>news sentiment</a:t>
            </a:r>
            <a:r>
              <a:rPr kumimoji="0" lang="en-US" altLang="en-US" sz="1800" b="0" i="0" u="none" strike="noStrike" cap="none" normalizeH="0" baseline="0" dirty="0">
                <a:ln>
                  <a:noFill/>
                </a:ln>
                <a:effectLst/>
                <a:latin typeface="Arial" panose="020B0604020202020204" pitchFamily="34" charset="0"/>
              </a:rPr>
              <a:t>, </a:t>
            </a:r>
            <a:r>
              <a:rPr kumimoji="0" lang="en-US" altLang="en-US" sz="1800" b="1" i="0" u="none" strike="noStrike" cap="none" normalizeH="0" baseline="0" dirty="0">
                <a:ln>
                  <a:noFill/>
                </a:ln>
                <a:effectLst/>
                <a:latin typeface="Arial" panose="020B0604020202020204" pitchFamily="34" charset="0"/>
              </a:rPr>
              <a:t>economic indicators</a:t>
            </a:r>
            <a:r>
              <a:rPr kumimoji="0" lang="en-US" altLang="en-US" sz="1800" b="0" i="0" u="none" strike="noStrike" cap="none" normalizeH="0" baseline="0" dirty="0">
                <a:ln>
                  <a:noFill/>
                </a:ln>
                <a:effectLst/>
                <a:latin typeface="Arial" panose="020B0604020202020204" pitchFamily="34" charset="0"/>
              </a:rPr>
              <a:t>, and </a:t>
            </a:r>
            <a:r>
              <a:rPr kumimoji="0" lang="en-US" altLang="en-US" sz="1800" b="1" i="0" u="none" strike="noStrike" cap="none" normalizeH="0" baseline="0" dirty="0">
                <a:ln>
                  <a:noFill/>
                </a:ln>
                <a:effectLst/>
                <a:latin typeface="Arial" panose="020B0604020202020204" pitchFamily="34" charset="0"/>
              </a:rPr>
              <a:t>market volatility indices</a:t>
            </a:r>
            <a:r>
              <a:rPr kumimoji="0" lang="en-US" altLang="en-US" sz="1800" b="0" i="0" u="none" strike="noStrike" cap="none" normalizeH="0" baseline="0" dirty="0">
                <a:ln>
                  <a:noFill/>
                </a:ln>
                <a:effectLst/>
                <a:latin typeface="Arial" panose="020B0604020202020204" pitchFamily="34" charset="0"/>
              </a:rPr>
              <a:t>.</a:t>
            </a:r>
          </a:p>
          <a:p>
            <a:pPr eaLnBrk="0" fontAlgn="base" hangingPunct="0">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effectLst/>
                <a:latin typeface="Arial" panose="020B0604020202020204" pitchFamily="34" charset="0"/>
              </a:rPr>
              <a:t>Adding these features can enhance the accuracy of the predictions, especially for </a:t>
            </a:r>
            <a:r>
              <a:rPr kumimoji="0" lang="en-US" altLang="en-US" sz="1800" b="1" i="0" u="none" strike="noStrike" cap="none" normalizeH="0" baseline="0" dirty="0">
                <a:ln>
                  <a:noFill/>
                </a:ln>
                <a:effectLst/>
                <a:latin typeface="Arial" panose="020B0604020202020204" pitchFamily="34" charset="0"/>
              </a:rPr>
              <a:t>longer-term forecasts</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Arial" panose="020B0604020202020204" pitchFamily="34" charset="0"/>
              </a:rPr>
              <a:t>Improve Long-Term Prediction Accuracy</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Explore advanced models like </a:t>
            </a:r>
            <a:r>
              <a:rPr kumimoji="0" lang="en-US" altLang="en-US" sz="1800" b="1" i="0" u="none" strike="noStrike" cap="none" normalizeH="0" baseline="0" dirty="0">
                <a:ln>
                  <a:noFill/>
                </a:ln>
                <a:effectLst/>
                <a:latin typeface="Arial" panose="020B0604020202020204" pitchFamily="34" charset="0"/>
              </a:rPr>
              <a:t>hybrid deep learning techniques</a:t>
            </a:r>
            <a:r>
              <a:rPr kumimoji="0" lang="en-US" altLang="en-US" sz="1800" b="0" i="0" u="none" strike="noStrike" cap="none" normalizeH="0" baseline="0" dirty="0">
                <a:ln>
                  <a:noFill/>
                </a:ln>
                <a:effectLst/>
                <a:latin typeface="Arial" panose="020B0604020202020204" pitchFamily="34" charset="0"/>
              </a:rPr>
              <a:t> or </a:t>
            </a:r>
            <a:r>
              <a:rPr kumimoji="0" lang="en-US" altLang="en-US" sz="1800" b="1" i="0" u="none" strike="noStrike" cap="none" normalizeH="0" baseline="0" dirty="0">
                <a:ln>
                  <a:noFill/>
                </a:ln>
                <a:effectLst/>
                <a:latin typeface="Arial" panose="020B0604020202020204" pitchFamily="34" charset="0"/>
              </a:rPr>
              <a:t>ensemble models</a:t>
            </a:r>
            <a:r>
              <a:rPr kumimoji="0" lang="en-US" altLang="en-US" sz="1800" b="0" i="0" u="none" strike="noStrike" cap="none" normalizeH="0" baseline="0" dirty="0">
                <a:ln>
                  <a:noFill/>
                </a:ln>
                <a:effectLst/>
                <a:latin typeface="Arial" panose="020B0604020202020204" pitchFamily="34" charset="0"/>
              </a:rPr>
              <a:t> to handle stock market volatility more effectively.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Further training and tuning of the model to minimize prediction error over longer time frames.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8F1AE37-45EA-39CD-A614-66108B6999D4}"/>
              </a:ext>
            </a:extLst>
          </p:cNvPr>
          <p:cNvSpPr>
            <a:spLocks noGrp="1" noChangeArrowheads="1"/>
          </p:cNvSpPr>
          <p:nvPr>
            <p:ph idx="11"/>
          </p:nvPr>
        </p:nvSpPr>
        <p:spPr bwMode="auto">
          <a:xfrm>
            <a:off x="6411913" y="1658092"/>
            <a:ext cx="519650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Arial" panose="020B0604020202020204" pitchFamily="34" charset="0"/>
              </a:rPr>
              <a:t>User-Centric Enhancements</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Introduce features like </a:t>
            </a:r>
            <a:r>
              <a:rPr kumimoji="0" lang="en-US" altLang="en-US" sz="1800" b="1" i="0" u="none" strike="noStrike" cap="none" normalizeH="0" baseline="0" dirty="0">
                <a:ln>
                  <a:noFill/>
                </a:ln>
                <a:effectLst/>
                <a:latin typeface="Arial" panose="020B0604020202020204" pitchFamily="34" charset="0"/>
              </a:rPr>
              <a:t>customized alerts</a:t>
            </a:r>
            <a:r>
              <a:rPr kumimoji="0" lang="en-US" altLang="en-US" sz="1800" b="0" i="0" u="none" strike="noStrike" cap="none" normalizeH="0" baseline="0" dirty="0">
                <a:ln>
                  <a:noFill/>
                </a:ln>
                <a:effectLst/>
                <a:latin typeface="Arial" panose="020B0604020202020204" pitchFamily="34" charset="0"/>
              </a:rPr>
              <a:t> for stock trends or significant market movements.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Provide more </a:t>
            </a:r>
            <a:r>
              <a:rPr kumimoji="0" lang="en-US" altLang="en-US" sz="1800" b="1" i="0" u="none" strike="noStrike" cap="none" normalizeH="0" baseline="0" dirty="0">
                <a:ln>
                  <a:noFill/>
                </a:ln>
                <a:effectLst/>
                <a:latin typeface="Arial" panose="020B0604020202020204" pitchFamily="34" charset="0"/>
              </a:rPr>
              <a:t>advanced visualizations</a:t>
            </a:r>
            <a:r>
              <a:rPr kumimoji="0" lang="en-US" altLang="en-US" sz="1800" b="0" i="0" u="none" strike="noStrike" cap="none" normalizeH="0" baseline="0" dirty="0">
                <a:ln>
                  <a:noFill/>
                </a:ln>
                <a:effectLst/>
                <a:latin typeface="Arial" panose="020B0604020202020204" pitchFamily="34" charset="0"/>
              </a:rPr>
              <a:t>, such as candlestick charts, and detailed performance metrics.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Arial" panose="020B0604020202020204" pitchFamily="34" charset="0"/>
              </a:rPr>
              <a:t>Potential for Deployment</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effectLst/>
                <a:latin typeface="Arial" panose="020B0604020202020204" pitchFamily="34" charset="0"/>
              </a:rPr>
              <a:t>Further development could lead to deploying this app as a </a:t>
            </a:r>
            <a:r>
              <a:rPr kumimoji="0" lang="en-US" altLang="en-US" sz="1800" b="1" i="0" u="none" strike="noStrike" cap="none" normalizeH="0" baseline="0" dirty="0">
                <a:ln>
                  <a:noFill/>
                </a:ln>
                <a:effectLst/>
                <a:latin typeface="Arial" panose="020B0604020202020204" pitchFamily="34" charset="0"/>
              </a:rPr>
              <a:t>commercial product</a:t>
            </a:r>
            <a:r>
              <a:rPr kumimoji="0" lang="en-US" altLang="en-US" sz="1800" b="0" i="0" u="none" strike="noStrike" cap="none" normalizeH="0" baseline="0" dirty="0">
                <a:ln>
                  <a:noFill/>
                </a:ln>
                <a:effectLst/>
                <a:latin typeface="Arial" panose="020B0604020202020204" pitchFamily="34" charset="0"/>
              </a:rPr>
              <a:t> for financial institutions, enabling broader use in the financial technology sector.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747248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AB1C8-4A29-D350-B7C4-3089C13BFB51}"/>
              </a:ext>
            </a:extLst>
          </p:cNvPr>
          <p:cNvSpPr>
            <a:spLocks noGrp="1"/>
          </p:cNvSpPr>
          <p:nvPr>
            <p:ph type="ctrTitle"/>
          </p:nvPr>
        </p:nvSpPr>
        <p:spPr>
          <a:xfrm>
            <a:off x="7020675" y="3145971"/>
            <a:ext cx="4377767" cy="870858"/>
          </a:xfrm>
        </p:spPr>
        <p:txBody>
          <a:bodyPr/>
          <a:lstStyle/>
          <a:p>
            <a:r>
              <a:rPr lang="en-US" dirty="0"/>
              <a:t>Thank You</a:t>
            </a:r>
          </a:p>
        </p:txBody>
      </p:sp>
      <p:pic>
        <p:nvPicPr>
          <p:cNvPr id="9" name="Picture Placeholder 8">
            <a:extLst>
              <a:ext uri="{FF2B5EF4-FFF2-40B4-BE49-F238E27FC236}">
                <a16:creationId xmlns:a16="http://schemas.microsoft.com/office/drawing/2014/main" id="{9E37214F-3E79-126D-B244-409CAB3F566E}"/>
              </a:ext>
            </a:extLst>
          </p:cNvPr>
          <p:cNvPicPr>
            <a:picLocks noGrp="1" noChangeAspect="1"/>
          </p:cNvPicPr>
          <p:nvPr>
            <p:ph type="pic" sz="quarter" idx="10"/>
          </p:nvPr>
        </p:nvPicPr>
        <p:blipFill>
          <a:blip r:embed="rId2"/>
          <a:srcRect l="12077" r="12077"/>
          <a:stretch>
            <a:fillRect/>
          </a:stretch>
        </p:blipFill>
        <p:spPr>
          <a:prstGeom prst="rect">
            <a:avLst/>
          </a:prstGeom>
        </p:spPr>
      </p:pic>
    </p:spTree>
    <p:extLst>
      <p:ext uri="{BB962C8B-B14F-4D97-AF65-F5344CB8AC3E}">
        <p14:creationId xmlns:p14="http://schemas.microsoft.com/office/powerpoint/2010/main" val="1768293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adison">
  <a:themeElements>
    <a:clrScheme name="TM45439525">
      <a:dk1>
        <a:srgbClr val="000000"/>
      </a:dk1>
      <a:lt1>
        <a:srgbClr val="FFFFFF"/>
      </a:lt1>
      <a:dk2>
        <a:srgbClr val="1F2C28"/>
      </a:dk2>
      <a:lt2>
        <a:srgbClr val="E7E6E6"/>
      </a:lt2>
      <a:accent1>
        <a:srgbClr val="A1D58B"/>
      </a:accent1>
      <a:accent2>
        <a:srgbClr val="5EC795"/>
      </a:accent2>
      <a:accent3>
        <a:srgbClr val="4DADCE"/>
      </a:accent3>
      <a:accent4>
        <a:srgbClr val="CCB756"/>
      </a:accent4>
      <a:accent5>
        <a:srgbClr val="E29B35"/>
      </a:accent5>
      <a:accent6>
        <a:srgbClr val="8DC0C0"/>
      </a:accent6>
      <a:hlink>
        <a:srgbClr val="0563C1"/>
      </a:hlink>
      <a:folHlink>
        <a:srgbClr val="954F72"/>
      </a:folHlink>
    </a:clrScheme>
    <a:fontScheme name="Custom 11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439525_Win32_SL_V10" id="{6D1E132C-EE58-410C-AA79-6634C21077D3}" vid="{B34F418C-A6AD-4EA0-82A8-449DB69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94F803-78B0-4743-862C-5C0CA596512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2DFC609-3144-4451-A09C-1FEABE97DD64}">
  <ds:schemaRefs>
    <ds:schemaRef ds:uri="http://schemas.microsoft.com/sharepoint/v3/contenttype/forms"/>
  </ds:schemaRefs>
</ds:datastoreItem>
</file>

<file path=customXml/itemProps3.xml><?xml version="1.0" encoding="utf-8"?>
<ds:datastoreItem xmlns:ds="http://schemas.openxmlformats.org/officeDocument/2006/customXml" ds:itemID="{4BD5B0D0-2713-4A58-8851-7057612DF0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142</TotalTime>
  <Words>1039</Words>
  <Application>Microsoft Office PowerPoint</Application>
  <PresentationFormat>Widescreen</PresentationFormat>
  <Paragraphs>107</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Arial MT</vt:lpstr>
      <vt:lpstr>Calibri</vt:lpstr>
      <vt:lpstr>Symbol</vt:lpstr>
      <vt:lpstr>Times New Roman</vt:lpstr>
      <vt:lpstr>Wingdings</vt:lpstr>
      <vt:lpstr>Madison</vt:lpstr>
      <vt:lpstr> Industrial Training Project</vt:lpstr>
      <vt:lpstr>CERTIFICATE</vt:lpstr>
      <vt:lpstr>Data Science Training</vt:lpstr>
      <vt:lpstr>Modules Covered</vt:lpstr>
      <vt:lpstr>Project Objective </vt:lpstr>
      <vt:lpstr>Methodology</vt:lpstr>
      <vt:lpstr>Data  Flow Diagram</vt:lpstr>
      <vt:lpstr>Work  Flow  Diagram</vt:lpstr>
      <vt:lpstr>PowerPoint Presentation</vt:lpstr>
      <vt:lpstr>       Results  Model Performance: R² score of 0.9422 indicating good prediction accuracy.  A visualization comparing actual vs. predicted stock prices was generated using the test data. The graph highlights that the model effectively captures the trends and overall movement of stock prices, though some deviation occurs over longer prediction windows.   </vt:lpstr>
      <vt:lpstr>Streamlit Web App</vt:lpstr>
      <vt:lpstr>Graphical Visualizations</vt:lpstr>
      <vt:lpstr>Future Price Prediction</vt:lpstr>
      <vt:lpstr>Conclusion</vt:lpstr>
      <vt:lpstr>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 launch strategy</dc:title>
  <dc:creator>PRAGATI SINGH</dc:creator>
  <cp:lastModifiedBy>Pranati Singh(00012638920)</cp:lastModifiedBy>
  <cp:revision>17</cp:revision>
  <dcterms:created xsi:type="dcterms:W3CDTF">2024-01-24T10:28:59Z</dcterms:created>
  <dcterms:modified xsi:type="dcterms:W3CDTF">2024-10-24T03:14:07Z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